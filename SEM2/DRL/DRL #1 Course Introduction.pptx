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iUv/MONwWh5KfCOWydOLOxbjWr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DE12FA-F8BC-4BBA-83A9-9AC5B8FD38D9}">
  <a:tblStyle styleId="{D0DE12FA-F8BC-4BBA-83A9-9AC5B8FD38D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3" Type="http://schemas.openxmlformats.org/officeDocument/2006/relationships/slide" Target="slides/slide8.xml"/><Relationship Id="rId18" Type="http://schemas.openxmlformats.org/officeDocument/2006/relationships/slide" Target="slides/slide13.xml"/><Relationship Id="rId21" Type="http://schemas.openxmlformats.org/officeDocument/2006/relationships/slide" Target="slides/slide16.xml"/><Relationship Id="rId34" Type="http://customschemas.google.com/relationships/presentationmetadata" Target="metadata"/><Relationship Id="rId25" Type="http://schemas.openxmlformats.org/officeDocument/2006/relationships/slide" Target="slides/slide20.xml"/><Relationship Id="rId7" Type="http://schemas.openxmlformats.org/officeDocument/2006/relationships/slide" Target="slides/slide2.xml"/><Relationship Id="rId33" Type="http://schemas.openxmlformats.org/officeDocument/2006/relationships/slide" Target="slides/slide28.xml"/><Relationship Id="rId12" Type="http://schemas.openxmlformats.org/officeDocument/2006/relationships/slide" Target="slides/slide7.xml"/><Relationship Id="rId17" Type="http://schemas.openxmlformats.org/officeDocument/2006/relationships/slide" Target="slides/slide12.xml"/><Relationship Id="rId20" Type="http://schemas.openxmlformats.org/officeDocument/2006/relationships/slide" Target="slides/slide15.xml"/><Relationship Id="rId2" Type="http://schemas.openxmlformats.org/officeDocument/2006/relationships/presProps" Target="presProps.xml"/><Relationship Id="rId29" Type="http://schemas.openxmlformats.org/officeDocument/2006/relationships/slide" Target="slides/slide24.xml"/><Relationship Id="rId16" Type="http://schemas.openxmlformats.org/officeDocument/2006/relationships/slide" Target="slides/slide11.xml"/><Relationship Id="rId24" Type="http://schemas.openxmlformats.org/officeDocument/2006/relationships/slide" Target="slides/slide19.xml"/><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customXml" Target="../customXml/item3.xml"/><Relationship Id="rId23" Type="http://schemas.openxmlformats.org/officeDocument/2006/relationships/slide" Target="slides/slide18.xml"/><Relationship Id="rId28" Type="http://schemas.openxmlformats.org/officeDocument/2006/relationships/slide" Target="slides/slide23.xml"/><Relationship Id="rId5" Type="http://schemas.openxmlformats.org/officeDocument/2006/relationships/notesMaster" Target="notesMasters/notesMaster1.xml"/><Relationship Id="rId15" Type="http://schemas.openxmlformats.org/officeDocument/2006/relationships/slide" Target="slides/slide10.xml"/><Relationship Id="rId36" Type="http://schemas.openxmlformats.org/officeDocument/2006/relationships/customXml" Target="../customXml/item2.xml"/><Relationship Id="rId31" Type="http://schemas.openxmlformats.org/officeDocument/2006/relationships/slide" Target="slides/slide26.xml"/><Relationship Id="rId10" Type="http://schemas.openxmlformats.org/officeDocument/2006/relationships/slide" Target="slides/slide5.xml"/><Relationship Id="rId19" Type="http://schemas.openxmlformats.org/officeDocument/2006/relationships/slide" Target="slides/slide14.xml"/><Relationship Id="rId22"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slide" Target="slides/slide22.xml"/><Relationship Id="rId30" Type="http://schemas.openxmlformats.org/officeDocument/2006/relationships/slide" Target="slides/slide25.xml"/><Relationship Id="rId14" Type="http://schemas.openxmlformats.org/officeDocument/2006/relationships/slide" Target="slides/slide9.xml"/><Relationship Id="rId35" Type="http://schemas.openxmlformats.org/officeDocument/2006/relationships/customXml" Target="../customXml/item1.xml"/><Relationship Id="rId8" Type="http://schemas.openxmlformats.org/officeDocument/2006/relationships/slide" Target="slides/slide3.xml"/><Relationship Id="rId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44ec1b14f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244ec1b14f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244ec1b14f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189367e96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189367e9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3189367e9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217600a579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2217600a579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44ec1b14fb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244ec1b14fb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g244ec1b14fb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16799cd9c8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g316799cd9c8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44ec1b14fb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244ec1b14fb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g244ec1b14fb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62346938f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262346938f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g262346938f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44ec1b14f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244ec1b14fb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g244ec1b14fb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44ec1b14fb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244ec1b14fb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244ec1b14fb_0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44ec1b14fb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244ec1b14fb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244ec1b14fb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44ec1b14fb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244ec1b14fb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g244ec1b14fb_0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44ec1b14fb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244ec1b14fb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g244ec1b14fb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44ec1b14fb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244ec1b14fb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g244ec1b14fb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44ec1b14fb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244ec1b14fb_0_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g244ec1b14fb_0_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44ec1b14fb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244ec1b14fb_0_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g244ec1b14fb_0_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44ec1b14fb_0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244ec1b14fb_0_1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g244ec1b14fb_0_1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16b0105be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g316b0105be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16b0105bef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g316b0105bef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16b0105bef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g316b0105bef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16b0105bef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g316b0105bef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16b0105bef_0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g316b0105bef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16b0105bef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g316b0105bef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16b0105bef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g316b0105bef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16799cd9c8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g316799cd9c8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g316799cd9c8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4320ba2c0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g24320ba2c0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gif"/><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gi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gi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gi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pic>
        <p:nvPicPr>
          <p:cNvPr descr="BITS Pilani logo" id="15" name="Google Shape;15;p6"/>
          <p:cNvPicPr preferRelativeResize="0"/>
          <p:nvPr/>
        </p:nvPicPr>
        <p:blipFill rotWithShape="1">
          <a:blip r:embed="rId2">
            <a:alphaModFix/>
          </a:blip>
          <a:srcRect b="0" l="0" r="0" t="0"/>
          <a:stretch/>
        </p:blipFill>
        <p:spPr>
          <a:xfrm>
            <a:off x="8822778" y="262802"/>
            <a:ext cx="3338739" cy="865907"/>
          </a:xfrm>
          <a:prstGeom prst="rect">
            <a:avLst/>
          </a:prstGeom>
          <a:noFill/>
          <a:ln>
            <a:noFill/>
          </a:ln>
        </p:spPr>
      </p:pic>
      <p:sp>
        <p:nvSpPr>
          <p:cNvPr id="16" name="Google Shape;16;p6"/>
          <p:cNvSpPr txBox="1"/>
          <p:nvPr/>
        </p:nvSpPr>
        <p:spPr>
          <a:xfrm>
            <a:off x="4369200" y="5716225"/>
            <a:ext cx="7219500" cy="8658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Instructors, Deep Reinforcement Learning Course</a:t>
            </a:r>
            <a:endParaRPr b="0" i="0" sz="1400" u="none" cap="none" strike="noStrike">
              <a:solidFill>
                <a:srgbClr val="000000"/>
              </a:solidFill>
              <a:latin typeface="Arial"/>
              <a:ea typeface="Arial"/>
              <a:cs typeface="Arial"/>
              <a:sym typeface="Arial"/>
            </a:endParaRPr>
          </a:p>
        </p:txBody>
      </p:sp>
      <p:pic>
        <p:nvPicPr>
          <p:cNvPr id="17" name="Google Shape;17;p6"/>
          <p:cNvPicPr preferRelativeResize="0"/>
          <p:nvPr/>
        </p:nvPicPr>
        <p:blipFill rotWithShape="1">
          <a:blip r:embed="rId3">
            <a:alphaModFix/>
          </a:blip>
          <a:srcRect b="0" l="0" r="0" t="0"/>
          <a:stretch/>
        </p:blipFill>
        <p:spPr>
          <a:xfrm>
            <a:off x="0" y="0"/>
            <a:ext cx="5581652" cy="6858000"/>
          </a:xfrm>
          <a:prstGeom prst="rect">
            <a:avLst/>
          </a:prstGeom>
          <a:noFill/>
          <a:ln>
            <a:noFill/>
          </a:ln>
        </p:spPr>
      </p:pic>
      <p:sp>
        <p:nvSpPr>
          <p:cNvPr id="18" name="Google Shape;18;p6"/>
          <p:cNvSpPr txBox="1"/>
          <p:nvPr>
            <p:ph type="ctrTitle"/>
          </p:nvPr>
        </p:nvSpPr>
        <p:spPr>
          <a:xfrm>
            <a:off x="1867990" y="3226527"/>
            <a:ext cx="9489822" cy="127362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600"/>
              <a:buFont typeface="Calibri"/>
              <a:buNone/>
              <a:defRPr sz="3600" cap="none">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nvSpPr>
        <p:spPr>
          <a:xfrm>
            <a:off x="64525" y="1053900"/>
            <a:ext cx="4196100" cy="909600"/>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chemeClr val="dk1"/>
              </a:buClr>
              <a:buSzPts val="1600"/>
              <a:buFont typeface="Arial"/>
              <a:buNone/>
            </a:pPr>
            <a:r>
              <a:rPr b="0" i="0" lang="en-US" sz="2600" u="none" cap="none" strike="noStrike">
                <a:solidFill>
                  <a:schemeClr val="dk1"/>
                </a:solidFill>
                <a:latin typeface="Calibri"/>
                <a:ea typeface="Calibri"/>
                <a:cs typeface="Calibri"/>
                <a:sym typeface="Calibri"/>
              </a:rPr>
              <a:t>Deep Reinforcement Learning</a:t>
            </a:r>
            <a:endParaRPr b="0" i="0" sz="2600" u="none" cap="none" strike="noStrike">
              <a:solidFill>
                <a:schemeClr val="dk1"/>
              </a:solidFill>
              <a:latin typeface="Calibri"/>
              <a:ea typeface="Calibri"/>
              <a:cs typeface="Calibri"/>
              <a:sym typeface="Calibri"/>
            </a:endParaRPr>
          </a:p>
          <a:p>
            <a:pPr indent="0" lvl="0" marL="0" marR="0" rtl="0" algn="r">
              <a:lnSpc>
                <a:spcPct val="90000"/>
              </a:lnSpc>
              <a:spcBef>
                <a:spcPts val="0"/>
              </a:spcBef>
              <a:spcAft>
                <a:spcPts val="0"/>
              </a:spcAft>
              <a:buClr>
                <a:schemeClr val="dk1"/>
              </a:buClr>
              <a:buSzPts val="1600"/>
              <a:buFont typeface="Arial"/>
              <a:buNone/>
            </a:pPr>
            <a:r>
              <a:rPr b="0" i="0" lang="en-US" sz="1700" u="none" cap="none" strike="noStrike">
                <a:solidFill>
                  <a:schemeClr val="dk1"/>
                </a:solidFill>
                <a:latin typeface="Calibri"/>
                <a:ea typeface="Calibri"/>
                <a:cs typeface="Calibri"/>
                <a:sym typeface="Calibri"/>
              </a:rPr>
              <a:t>2025 Second Semester, M.Tech (AIML)   </a:t>
            </a:r>
            <a:endParaRPr b="0" i="0" sz="15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20" name="Shape 20"/>
        <p:cNvGrpSpPr/>
        <p:nvPr/>
      </p:nvGrpSpPr>
      <p:grpSpPr>
        <a:xfrm>
          <a:off x="0" y="0"/>
          <a:ext cx="0" cy="0"/>
          <a:chOff x="0" y="0"/>
          <a:chExt cx="0" cy="0"/>
        </a:xfrm>
      </p:grpSpPr>
      <p:pic>
        <p:nvPicPr>
          <p:cNvPr descr="BITS Pilani logo" id="21" name="Google Shape;21;p7"/>
          <p:cNvPicPr preferRelativeResize="0"/>
          <p:nvPr/>
        </p:nvPicPr>
        <p:blipFill rotWithShape="1">
          <a:blip r:embed="rId2">
            <a:alphaModFix/>
          </a:blip>
          <a:srcRect b="0" l="0" r="0" t="0"/>
          <a:stretch/>
        </p:blipFill>
        <p:spPr>
          <a:xfrm>
            <a:off x="384175" y="288928"/>
            <a:ext cx="3338739" cy="865907"/>
          </a:xfrm>
          <a:prstGeom prst="rect">
            <a:avLst/>
          </a:prstGeom>
          <a:noFill/>
          <a:ln>
            <a:noFill/>
          </a:ln>
        </p:spPr>
      </p:pic>
      <p:sp>
        <p:nvSpPr>
          <p:cNvPr id="22" name="Google Shape;22;p7"/>
          <p:cNvSpPr txBox="1"/>
          <p:nvPr>
            <p:ph type="title"/>
          </p:nvPr>
        </p:nvSpPr>
        <p:spPr>
          <a:xfrm>
            <a:off x="468449" y="1671639"/>
            <a:ext cx="6005376" cy="6531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7"/>
          <p:cNvSpPr txBox="1"/>
          <p:nvPr>
            <p:ph idx="1" type="body"/>
          </p:nvPr>
        </p:nvSpPr>
        <p:spPr>
          <a:xfrm>
            <a:off x="1362075" y="2586447"/>
            <a:ext cx="6005376" cy="3304902"/>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7"/>
          <p:cNvSpPr txBox="1"/>
          <p:nvPr>
            <p:ph idx="11" type="ftr"/>
          </p:nvPr>
        </p:nvSpPr>
        <p:spPr>
          <a:xfrm>
            <a:off x="2463800" y="6356350"/>
            <a:ext cx="3479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bg>
      <p:bgPr>
        <a:solidFill>
          <a:schemeClr val="lt1"/>
        </a:solidFill>
      </p:bgPr>
    </p:bg>
    <p:spTree>
      <p:nvGrpSpPr>
        <p:cNvPr id="26" name="Shape 26"/>
        <p:cNvGrpSpPr/>
        <p:nvPr/>
      </p:nvGrpSpPr>
      <p:grpSpPr>
        <a:xfrm>
          <a:off x="0" y="0"/>
          <a:ext cx="0" cy="0"/>
          <a:chOff x="0" y="0"/>
          <a:chExt cx="0" cy="0"/>
        </a:xfrm>
      </p:grpSpPr>
      <p:sp>
        <p:nvSpPr>
          <p:cNvPr id="27" name="Google Shape;27;p8"/>
          <p:cNvSpPr txBox="1"/>
          <p:nvPr>
            <p:ph type="title"/>
          </p:nvPr>
        </p:nvSpPr>
        <p:spPr>
          <a:xfrm>
            <a:off x="838200" y="365125"/>
            <a:ext cx="10515599" cy="124619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000"/>
              <a:buFont typeface="Calibri"/>
              <a:buNone/>
              <a:defRPr b="1" sz="40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30" name="Google Shape;30;p8"/>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31" name="Google Shape;31;p8"/>
          <p:cNvSpPr txBox="1"/>
          <p:nvPr>
            <p:ph idx="1" type="body"/>
          </p:nvPr>
        </p:nvSpPr>
        <p:spPr>
          <a:xfrm>
            <a:off x="838200" y="1894114"/>
            <a:ext cx="10515599" cy="4180115"/>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1000"/>
              </a:spcBef>
              <a:spcAft>
                <a:spcPts val="0"/>
              </a:spcAft>
              <a:buClr>
                <a:schemeClr val="dk1"/>
              </a:buClr>
              <a:buSzPts val="2800"/>
              <a:buFont typeface="Arial"/>
              <a:buChar char="•"/>
              <a:defRPr sz="28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32" name="Shape 32"/>
        <p:cNvGrpSpPr/>
        <p:nvPr/>
      </p:nvGrpSpPr>
      <p:grpSpPr>
        <a:xfrm>
          <a:off x="0" y="0"/>
          <a:ext cx="0" cy="0"/>
          <a:chOff x="0" y="0"/>
          <a:chExt cx="0" cy="0"/>
        </a:xfrm>
      </p:grpSpPr>
      <p:pic>
        <p:nvPicPr>
          <p:cNvPr id="33" name="Google Shape;33;p9"/>
          <p:cNvPicPr preferRelativeResize="0"/>
          <p:nvPr/>
        </p:nvPicPr>
        <p:blipFill rotWithShape="1">
          <a:blip r:embed="rId2">
            <a:alphaModFix/>
          </a:blip>
          <a:srcRect b="0" l="0" r="0" t="0"/>
          <a:stretch/>
        </p:blipFill>
        <p:spPr>
          <a:xfrm>
            <a:off x="0" y="0"/>
            <a:ext cx="5581650" cy="6858000"/>
          </a:xfrm>
          <a:prstGeom prst="rect">
            <a:avLst/>
          </a:prstGeom>
          <a:noFill/>
          <a:ln>
            <a:noFill/>
          </a:ln>
        </p:spPr>
      </p:pic>
      <p:sp>
        <p:nvSpPr>
          <p:cNvPr id="34" name="Google Shape;34;p9"/>
          <p:cNvSpPr txBox="1"/>
          <p:nvPr>
            <p:ph type="title"/>
          </p:nvPr>
        </p:nvSpPr>
        <p:spPr>
          <a:xfrm>
            <a:off x="4657724" y="2809875"/>
            <a:ext cx="6696075" cy="19097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
          <p:cNvSpPr txBox="1"/>
          <p:nvPr>
            <p:ph idx="1" type="subTitle"/>
          </p:nvPr>
        </p:nvSpPr>
        <p:spPr>
          <a:xfrm>
            <a:off x="4657725" y="5028803"/>
            <a:ext cx="6696074" cy="365125"/>
          </a:xfrm>
          <a:prstGeom prst="rect">
            <a:avLst/>
          </a:prstGeom>
          <a:noFill/>
          <a:ln>
            <a:noFill/>
          </a:ln>
        </p:spPr>
        <p:txBody>
          <a:bodyPr anchorCtr="0" anchor="b" bIns="45700" lIns="91425" spcFirstLastPara="1" rIns="91425" wrap="square" tIns="45700">
            <a:normAutofit/>
          </a:bodyPr>
          <a:lstStyle>
            <a:lvl1pPr lvl="0" algn="l">
              <a:lnSpc>
                <a:spcPct val="90000"/>
              </a:lnSpc>
              <a:spcBef>
                <a:spcPts val="1000"/>
              </a:spcBef>
              <a:spcAft>
                <a:spcPts val="0"/>
              </a:spcAft>
              <a:buClr>
                <a:srgbClr val="757070"/>
              </a:buClr>
              <a:buSzPts val="1600"/>
              <a:buNone/>
              <a:defRPr sz="1600">
                <a:solidFill>
                  <a:srgbClr val="75707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9"/>
          <p:cNvSpPr txBox="1"/>
          <p:nvPr>
            <p:ph idx="11" type="ftr"/>
          </p:nvPr>
        </p:nvSpPr>
        <p:spPr>
          <a:xfrm>
            <a:off x="6743699" y="6356350"/>
            <a:ext cx="254317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
          <p:cNvSpPr txBox="1"/>
          <p:nvPr>
            <p:ph idx="12" type="sldNum"/>
          </p:nvPr>
        </p:nvSpPr>
        <p:spPr>
          <a:xfrm>
            <a:off x="9658350" y="6356350"/>
            <a:ext cx="169545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TS Pilani logo" id="38" name="Google Shape;38;p9"/>
          <p:cNvPicPr preferRelativeResize="0"/>
          <p:nvPr/>
        </p:nvPicPr>
        <p:blipFill rotWithShape="1">
          <a:blip r:embed="rId3">
            <a:alphaModFix/>
          </a:blip>
          <a:srcRect b="0" l="0" r="0" t="0"/>
          <a:stretch/>
        </p:blipFill>
        <p:spPr>
          <a:xfrm>
            <a:off x="8836705" y="192510"/>
            <a:ext cx="3338739" cy="86590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ype="obj">
  <p:cSld name="OBJECT">
    <p:bg>
      <p:bgPr>
        <a:solidFill>
          <a:schemeClr val="dk1"/>
        </a:solidFill>
      </p:bgPr>
    </p:bg>
    <p:spTree>
      <p:nvGrpSpPr>
        <p:cNvPr id="39" name="Shape 39"/>
        <p:cNvGrpSpPr/>
        <p:nvPr/>
      </p:nvGrpSpPr>
      <p:grpSpPr>
        <a:xfrm>
          <a:off x="0" y="0"/>
          <a:ext cx="0" cy="0"/>
          <a:chOff x="0" y="0"/>
          <a:chExt cx="0" cy="0"/>
        </a:xfrm>
      </p:grpSpPr>
      <p:pic>
        <p:nvPicPr>
          <p:cNvPr id="40" name="Google Shape;40;p10"/>
          <p:cNvPicPr preferRelativeResize="0"/>
          <p:nvPr/>
        </p:nvPicPr>
        <p:blipFill rotWithShape="1">
          <a:blip r:embed="rId2">
            <a:alphaModFix/>
          </a:blip>
          <a:srcRect b="23070" l="0" r="28339" t="18301"/>
          <a:stretch/>
        </p:blipFill>
        <p:spPr>
          <a:xfrm>
            <a:off x="5488815" y="0"/>
            <a:ext cx="6703185" cy="6858000"/>
          </a:xfrm>
          <a:prstGeom prst="rect">
            <a:avLst/>
          </a:prstGeom>
          <a:noFill/>
          <a:ln>
            <a:noFill/>
          </a:ln>
        </p:spPr>
      </p:pic>
      <p:sp>
        <p:nvSpPr>
          <p:cNvPr id="41" name="Google Shape;41;p10"/>
          <p:cNvSpPr txBox="1"/>
          <p:nvPr>
            <p:ph type="title"/>
          </p:nvPr>
        </p:nvSpPr>
        <p:spPr>
          <a:xfrm>
            <a:off x="1333500" y="1020445"/>
            <a:ext cx="289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0"/>
          <p:cNvSpPr txBox="1"/>
          <p:nvPr>
            <p:ph idx="1" type="body"/>
          </p:nvPr>
        </p:nvSpPr>
        <p:spPr>
          <a:xfrm>
            <a:off x="1333500" y="2924175"/>
            <a:ext cx="2895600" cy="2519363"/>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chemeClr val="lt1"/>
              </a:buClr>
              <a:buSzPts val="1400"/>
              <a:buNone/>
              <a:defRPr sz="1400">
                <a:solidFill>
                  <a:schemeClr val="lt1"/>
                </a:solidFill>
              </a:defRPr>
            </a:lvl1pPr>
            <a:lvl2pPr indent="-228600" lvl="1" marL="914400" algn="l">
              <a:lnSpc>
                <a:spcPct val="150000"/>
              </a:lnSpc>
              <a:spcBef>
                <a:spcPts val="500"/>
              </a:spcBef>
              <a:spcAft>
                <a:spcPts val="0"/>
              </a:spcAft>
              <a:buClr>
                <a:schemeClr val="lt1"/>
              </a:buClr>
              <a:buSzPts val="1400"/>
              <a:buNone/>
              <a:defRPr sz="1400">
                <a:solidFill>
                  <a:schemeClr val="lt1"/>
                </a:solidFill>
              </a:defRPr>
            </a:lvl2pPr>
            <a:lvl3pPr indent="-228600" lvl="2" marL="1371600" algn="l">
              <a:lnSpc>
                <a:spcPct val="150000"/>
              </a:lnSpc>
              <a:spcBef>
                <a:spcPts val="500"/>
              </a:spcBef>
              <a:spcAft>
                <a:spcPts val="0"/>
              </a:spcAft>
              <a:buClr>
                <a:schemeClr val="lt1"/>
              </a:buClr>
              <a:buSzPts val="1400"/>
              <a:buNone/>
              <a:defRPr sz="1400">
                <a:solidFill>
                  <a:schemeClr val="lt1"/>
                </a:solidFill>
              </a:defRPr>
            </a:lvl3pPr>
            <a:lvl4pPr indent="-228600" lvl="3" marL="1828800" algn="l">
              <a:lnSpc>
                <a:spcPct val="150000"/>
              </a:lnSpc>
              <a:spcBef>
                <a:spcPts val="500"/>
              </a:spcBef>
              <a:spcAft>
                <a:spcPts val="0"/>
              </a:spcAft>
              <a:buClr>
                <a:schemeClr val="lt1"/>
              </a:buClr>
              <a:buSzPts val="1400"/>
              <a:buNone/>
              <a:defRPr sz="1400">
                <a:solidFill>
                  <a:schemeClr val="lt1"/>
                </a:solidFill>
              </a:defRPr>
            </a:lvl4pPr>
            <a:lvl5pPr indent="-228600" lvl="4" marL="2286000" algn="l">
              <a:lnSpc>
                <a:spcPct val="15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0"/>
          <p:cNvSpPr txBox="1"/>
          <p:nvPr>
            <p:ph idx="11" type="ftr"/>
          </p:nvPr>
        </p:nvSpPr>
        <p:spPr>
          <a:xfrm>
            <a:off x="2669886" y="6356349"/>
            <a:ext cx="2482842"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5536305" y="6356350"/>
            <a:ext cx="98755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ntroduction" type="secHead">
  <p:cSld name="SECTION_HEADER">
    <p:spTree>
      <p:nvGrpSpPr>
        <p:cNvPr id="45" name="Shape 45"/>
        <p:cNvGrpSpPr/>
        <p:nvPr/>
      </p:nvGrpSpPr>
      <p:grpSpPr>
        <a:xfrm>
          <a:off x="0" y="0"/>
          <a:ext cx="0" cy="0"/>
          <a:chOff x="0" y="0"/>
          <a:chExt cx="0" cy="0"/>
        </a:xfrm>
      </p:grpSpPr>
      <p:sp>
        <p:nvSpPr>
          <p:cNvPr id="46" name="Google Shape;46;p11"/>
          <p:cNvSpPr txBox="1"/>
          <p:nvPr>
            <p:ph type="title"/>
          </p:nvPr>
        </p:nvSpPr>
        <p:spPr>
          <a:xfrm>
            <a:off x="468449" y="1671639"/>
            <a:ext cx="6005376" cy="6531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1"/>
          <p:cNvSpPr txBox="1"/>
          <p:nvPr>
            <p:ph idx="1" type="body"/>
          </p:nvPr>
        </p:nvSpPr>
        <p:spPr>
          <a:xfrm>
            <a:off x="1362075" y="2586447"/>
            <a:ext cx="6005376" cy="3304902"/>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8" name="Google Shape;48;p11"/>
          <p:cNvSpPr txBox="1"/>
          <p:nvPr>
            <p:ph idx="11" type="ftr"/>
          </p:nvPr>
        </p:nvSpPr>
        <p:spPr>
          <a:xfrm>
            <a:off x="2463800" y="6356350"/>
            <a:ext cx="3479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TS Pilani logo" id="50" name="Google Shape;50;p11"/>
          <p:cNvPicPr preferRelativeResize="0"/>
          <p:nvPr/>
        </p:nvPicPr>
        <p:blipFill rotWithShape="1">
          <a:blip r:embed="rId2">
            <a:alphaModFix/>
          </a:blip>
          <a:srcRect b="0" l="0" r="0" t="0"/>
          <a:stretch/>
        </p:blipFill>
        <p:spPr>
          <a:xfrm>
            <a:off x="384175" y="288928"/>
            <a:ext cx="3338739" cy="86590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type="title">
  <p:cSld name="TITLE">
    <p:bg>
      <p:bgPr>
        <a:solidFill>
          <a:schemeClr val="dk1"/>
        </a:solidFill>
      </p:bgPr>
    </p:bg>
    <p:spTree>
      <p:nvGrpSpPr>
        <p:cNvPr id="51" name="Shape 51"/>
        <p:cNvGrpSpPr/>
        <p:nvPr/>
      </p:nvGrpSpPr>
      <p:grpSpPr>
        <a:xfrm>
          <a:off x="0" y="0"/>
          <a:ext cx="0" cy="0"/>
          <a:chOff x="0" y="0"/>
          <a:chExt cx="0" cy="0"/>
        </a:xfrm>
      </p:grpSpPr>
      <p:sp>
        <p:nvSpPr>
          <p:cNvPr id="52" name="Google Shape;52;p12"/>
          <p:cNvSpPr txBox="1"/>
          <p:nvPr>
            <p:ph type="ctrTitle"/>
          </p:nvPr>
        </p:nvSpPr>
        <p:spPr>
          <a:xfrm>
            <a:off x="6991350" y="2148840"/>
            <a:ext cx="4179570" cy="1715531"/>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 type="subTitle"/>
          </p:nvPr>
        </p:nvSpPr>
        <p:spPr>
          <a:xfrm>
            <a:off x="6991350" y="3962003"/>
            <a:ext cx="4179570" cy="3651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54" name="Google Shape;54;p12"/>
          <p:cNvPicPr preferRelativeResize="0"/>
          <p:nvPr/>
        </p:nvPicPr>
        <p:blipFill rotWithShape="1">
          <a:blip r:embed="rId2">
            <a:alphaModFix/>
          </a:blip>
          <a:srcRect b="0" l="0" r="0" t="0"/>
          <a:stretch/>
        </p:blipFill>
        <p:spPr>
          <a:xfrm>
            <a:off x="0" y="828675"/>
            <a:ext cx="5876925" cy="52006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bg>
      <p:bgPr>
        <a:solidFill>
          <a:schemeClr val="accent1"/>
        </a:solidFill>
      </p:bgPr>
    </p:bg>
    <p:spTree>
      <p:nvGrpSpPr>
        <p:cNvPr id="55" name="Shape 55"/>
        <p:cNvGrpSpPr/>
        <p:nvPr/>
      </p:nvGrpSpPr>
      <p:grpSpPr>
        <a:xfrm>
          <a:off x="0" y="0"/>
          <a:ext cx="0" cy="0"/>
          <a:chOff x="0" y="0"/>
          <a:chExt cx="0" cy="0"/>
        </a:xfrm>
      </p:grpSpPr>
      <p:sp>
        <p:nvSpPr>
          <p:cNvPr id="56" name="Google Shape;56;p13"/>
          <p:cNvSpPr txBox="1"/>
          <p:nvPr>
            <p:ph type="title"/>
          </p:nvPr>
        </p:nvSpPr>
        <p:spPr>
          <a:xfrm>
            <a:off x="838200" y="365125"/>
            <a:ext cx="10515599" cy="124665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59" name="Google Shape;59;p13"/>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60" name="Google Shape;60;p13"/>
          <p:cNvSpPr txBox="1"/>
          <p:nvPr>
            <p:ph idx="1" type="body"/>
          </p:nvPr>
        </p:nvSpPr>
        <p:spPr>
          <a:xfrm>
            <a:off x="838200" y="1894114"/>
            <a:ext cx="10515599" cy="4180115"/>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1000"/>
              </a:spcBef>
              <a:spcAft>
                <a:spcPts val="0"/>
              </a:spcAft>
              <a:buClr>
                <a:schemeClr val="dk1"/>
              </a:buClr>
              <a:buSzPts val="2800"/>
              <a:buFont typeface="Arial"/>
              <a:buChar char="•"/>
              <a:defRPr sz="28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4 People">
  <p:cSld name="Team Slide 4 People">
    <p:bg>
      <p:bgPr>
        <a:solidFill>
          <a:schemeClr val="lt1"/>
        </a:solidFill>
      </p:bgPr>
    </p:bg>
    <p:spTree>
      <p:nvGrpSpPr>
        <p:cNvPr id="61" name="Shape 61"/>
        <p:cNvGrpSpPr/>
        <p:nvPr/>
      </p:nvGrpSpPr>
      <p:grpSpPr>
        <a:xfrm>
          <a:off x="0" y="0"/>
          <a:ext cx="0" cy="0"/>
          <a:chOff x="0" y="0"/>
          <a:chExt cx="0" cy="0"/>
        </a:xfrm>
      </p:grpSpPr>
      <p:sp>
        <p:nvSpPr>
          <p:cNvPr id="62" name="Google Shape;62;p14"/>
          <p:cNvSpPr txBox="1"/>
          <p:nvPr>
            <p:ph type="title"/>
          </p:nvPr>
        </p:nvSpPr>
        <p:spPr>
          <a:xfrm>
            <a:off x="1228567" y="373362"/>
            <a:ext cx="10462689" cy="129868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p:nvPr>
            <p:ph idx="2" type="pic"/>
          </p:nvPr>
        </p:nvSpPr>
        <p:spPr>
          <a:xfrm>
            <a:off x="1487181" y="2886074"/>
            <a:ext cx="1845511" cy="1845511"/>
          </a:xfrm>
          <a:prstGeom prst="rect">
            <a:avLst/>
          </a:prstGeom>
          <a:solidFill>
            <a:srgbClr val="F2F2F2"/>
          </a:solidFill>
          <a:ln>
            <a:noFill/>
          </a:ln>
        </p:spPr>
      </p:sp>
      <p:sp>
        <p:nvSpPr>
          <p:cNvPr id="64" name="Google Shape;64;p14"/>
          <p:cNvSpPr txBox="1"/>
          <p:nvPr>
            <p:ph idx="1" type="body"/>
          </p:nvPr>
        </p:nvSpPr>
        <p:spPr>
          <a:xfrm>
            <a:off x="1228568" y="5084524"/>
            <a:ext cx="2317707"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14"/>
          <p:cNvSpPr txBox="1"/>
          <p:nvPr>
            <p:ph idx="3" type="body"/>
          </p:nvPr>
        </p:nvSpPr>
        <p:spPr>
          <a:xfrm>
            <a:off x="1487181" y="5464114"/>
            <a:ext cx="1845511"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6" name="Google Shape;66;p14"/>
          <p:cNvSpPr/>
          <p:nvPr>
            <p:ph idx="4" type="pic"/>
          </p:nvPr>
        </p:nvSpPr>
        <p:spPr>
          <a:xfrm>
            <a:off x="3836914" y="2886074"/>
            <a:ext cx="1845511" cy="1845511"/>
          </a:xfrm>
          <a:prstGeom prst="rect">
            <a:avLst/>
          </a:prstGeom>
          <a:solidFill>
            <a:srgbClr val="F2F2F2"/>
          </a:solidFill>
          <a:ln>
            <a:noFill/>
          </a:ln>
        </p:spPr>
      </p:sp>
      <p:sp>
        <p:nvSpPr>
          <p:cNvPr id="67" name="Google Shape;67;p14"/>
          <p:cNvSpPr txBox="1"/>
          <p:nvPr>
            <p:ph idx="5" type="body"/>
          </p:nvPr>
        </p:nvSpPr>
        <p:spPr>
          <a:xfrm>
            <a:off x="3578300" y="5084524"/>
            <a:ext cx="233081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8" name="Google Shape;68;p14"/>
          <p:cNvSpPr txBox="1"/>
          <p:nvPr>
            <p:ph idx="6" type="body"/>
          </p:nvPr>
        </p:nvSpPr>
        <p:spPr>
          <a:xfrm>
            <a:off x="3836913" y="5478796"/>
            <a:ext cx="1855949"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9" name="Google Shape;69;p14"/>
          <p:cNvSpPr/>
          <p:nvPr>
            <p:ph idx="7" type="pic"/>
          </p:nvPr>
        </p:nvSpPr>
        <p:spPr>
          <a:xfrm>
            <a:off x="6327578" y="2886074"/>
            <a:ext cx="1845511" cy="1845511"/>
          </a:xfrm>
          <a:prstGeom prst="rect">
            <a:avLst/>
          </a:prstGeom>
          <a:solidFill>
            <a:srgbClr val="F2F2F2"/>
          </a:solidFill>
          <a:ln>
            <a:noFill/>
          </a:ln>
        </p:spPr>
      </p:sp>
      <p:sp>
        <p:nvSpPr>
          <p:cNvPr id="70" name="Google Shape;70;p14"/>
          <p:cNvSpPr txBox="1"/>
          <p:nvPr>
            <p:ph idx="8" type="body"/>
          </p:nvPr>
        </p:nvSpPr>
        <p:spPr>
          <a:xfrm>
            <a:off x="6068964" y="5084524"/>
            <a:ext cx="2317707"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1" name="Google Shape;71;p14"/>
          <p:cNvSpPr txBox="1"/>
          <p:nvPr>
            <p:ph idx="9" type="body"/>
          </p:nvPr>
        </p:nvSpPr>
        <p:spPr>
          <a:xfrm>
            <a:off x="6327577" y="5478796"/>
            <a:ext cx="1845511"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2" name="Google Shape;72;p14"/>
          <p:cNvSpPr/>
          <p:nvPr>
            <p:ph idx="13" type="pic"/>
          </p:nvPr>
        </p:nvSpPr>
        <p:spPr>
          <a:xfrm>
            <a:off x="8747458" y="2886074"/>
            <a:ext cx="1845511" cy="1845511"/>
          </a:xfrm>
          <a:prstGeom prst="rect">
            <a:avLst/>
          </a:prstGeom>
          <a:solidFill>
            <a:srgbClr val="F2F2F2"/>
          </a:solidFill>
          <a:ln>
            <a:noFill/>
          </a:ln>
        </p:spPr>
      </p:sp>
      <p:sp>
        <p:nvSpPr>
          <p:cNvPr id="73" name="Google Shape;73;p14"/>
          <p:cNvSpPr txBox="1"/>
          <p:nvPr>
            <p:ph idx="14" type="body"/>
          </p:nvPr>
        </p:nvSpPr>
        <p:spPr>
          <a:xfrm>
            <a:off x="8488845" y="5084524"/>
            <a:ext cx="231770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4" name="Google Shape;74;p14"/>
          <p:cNvSpPr txBox="1"/>
          <p:nvPr>
            <p:ph idx="15" type="body"/>
          </p:nvPr>
        </p:nvSpPr>
        <p:spPr>
          <a:xfrm>
            <a:off x="8747458" y="5464114"/>
            <a:ext cx="184551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5" name="Google Shape;7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77" name="Google Shape;77;p14"/>
          <p:cNvPicPr preferRelativeResize="0"/>
          <p:nvPr/>
        </p:nvPicPr>
        <p:blipFill rotWithShape="1">
          <a:blip r:embed="rId2">
            <a:alphaModFix/>
          </a:blip>
          <a:srcRect b="0" l="0" r="0" t="0"/>
          <a:stretch/>
        </p:blipFill>
        <p:spPr>
          <a:xfrm>
            <a:off x="0" y="28575"/>
            <a:ext cx="704850" cy="70485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8 People">
  <p:cSld name="Team Slide 8 People">
    <p:bg>
      <p:bgPr>
        <a:solidFill>
          <a:schemeClr val="dk1"/>
        </a:solidFill>
      </p:bgPr>
    </p:bg>
    <p:spTree>
      <p:nvGrpSpPr>
        <p:cNvPr id="78" name="Shape 78"/>
        <p:cNvGrpSpPr/>
        <p:nvPr/>
      </p:nvGrpSpPr>
      <p:grpSpPr>
        <a:xfrm>
          <a:off x="0" y="0"/>
          <a:ext cx="0" cy="0"/>
          <a:chOff x="0" y="0"/>
          <a:chExt cx="0" cy="0"/>
        </a:xfrm>
      </p:grpSpPr>
      <p:grpSp>
        <p:nvGrpSpPr>
          <p:cNvPr id="79" name="Google Shape;79;p15"/>
          <p:cNvGrpSpPr/>
          <p:nvPr/>
        </p:nvGrpSpPr>
        <p:grpSpPr>
          <a:xfrm>
            <a:off x="0" y="473953"/>
            <a:ext cx="12192000" cy="5621336"/>
            <a:chOff x="0" y="473953"/>
            <a:chExt cx="12192000" cy="5621336"/>
          </a:xfrm>
        </p:grpSpPr>
        <p:pic>
          <p:nvPicPr>
            <p:cNvPr id="80" name="Google Shape;80;p15"/>
            <p:cNvPicPr preferRelativeResize="0"/>
            <p:nvPr/>
          </p:nvPicPr>
          <p:blipFill rotWithShape="1">
            <a:blip r:embed="rId2">
              <a:alphaModFix/>
            </a:blip>
            <a:srcRect b="0" l="0" r="0" t="0"/>
            <a:stretch/>
          </p:blipFill>
          <p:spPr>
            <a:xfrm>
              <a:off x="0" y="473953"/>
              <a:ext cx="2057400" cy="1647825"/>
            </a:xfrm>
            <a:prstGeom prst="rect">
              <a:avLst/>
            </a:prstGeom>
            <a:noFill/>
            <a:ln>
              <a:noFill/>
            </a:ln>
          </p:spPr>
        </p:pic>
        <p:pic>
          <p:nvPicPr>
            <p:cNvPr id="81" name="Google Shape;81;p15"/>
            <p:cNvPicPr preferRelativeResize="0"/>
            <p:nvPr/>
          </p:nvPicPr>
          <p:blipFill rotWithShape="1">
            <a:blip r:embed="rId3">
              <a:alphaModFix/>
            </a:blip>
            <a:srcRect b="0" l="0" r="0" t="0"/>
            <a:stretch/>
          </p:blipFill>
          <p:spPr>
            <a:xfrm>
              <a:off x="11049000" y="5180889"/>
              <a:ext cx="1143000" cy="914400"/>
            </a:xfrm>
            <a:prstGeom prst="rect">
              <a:avLst/>
            </a:prstGeom>
            <a:noFill/>
            <a:ln>
              <a:noFill/>
            </a:ln>
          </p:spPr>
        </p:pic>
      </p:grpSp>
      <p:sp>
        <p:nvSpPr>
          <p:cNvPr id="82" name="Google Shape;82;p15"/>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2800"/>
              <a:buFont typeface="Calibri"/>
              <a:buNone/>
              <a:defRPr sz="28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5"/>
          <p:cNvSpPr/>
          <p:nvPr>
            <p:ph idx="2" type="pic"/>
          </p:nvPr>
        </p:nvSpPr>
        <p:spPr>
          <a:xfrm>
            <a:off x="1877176" y="2428875"/>
            <a:ext cx="1066800" cy="1066800"/>
          </a:xfrm>
          <a:prstGeom prst="rect">
            <a:avLst/>
          </a:prstGeom>
          <a:solidFill>
            <a:schemeClr val="lt1"/>
          </a:solidFill>
          <a:ln>
            <a:noFill/>
          </a:ln>
        </p:spPr>
      </p:sp>
      <p:sp>
        <p:nvSpPr>
          <p:cNvPr id="84" name="Google Shape;84;p15"/>
          <p:cNvSpPr txBox="1"/>
          <p:nvPr>
            <p:ph idx="1" type="body"/>
          </p:nvPr>
        </p:nvSpPr>
        <p:spPr>
          <a:xfrm>
            <a:off x="1500168"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5" name="Google Shape;85;p15"/>
          <p:cNvSpPr txBox="1"/>
          <p:nvPr>
            <p:ph idx="3" type="body"/>
          </p:nvPr>
        </p:nvSpPr>
        <p:spPr>
          <a:xfrm>
            <a:off x="1500168" y="3809747"/>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6" name="Google Shape;86;p15"/>
          <p:cNvSpPr/>
          <p:nvPr>
            <p:ph idx="4" type="pic"/>
          </p:nvPr>
        </p:nvSpPr>
        <p:spPr>
          <a:xfrm>
            <a:off x="4226270" y="2428875"/>
            <a:ext cx="1066800" cy="1066800"/>
          </a:xfrm>
          <a:prstGeom prst="rect">
            <a:avLst/>
          </a:prstGeom>
          <a:solidFill>
            <a:schemeClr val="lt1"/>
          </a:solidFill>
          <a:ln>
            <a:noFill/>
          </a:ln>
        </p:spPr>
      </p:sp>
      <p:sp>
        <p:nvSpPr>
          <p:cNvPr id="87" name="Google Shape;87;p15"/>
          <p:cNvSpPr txBox="1"/>
          <p:nvPr>
            <p:ph idx="5" type="body"/>
          </p:nvPr>
        </p:nvSpPr>
        <p:spPr>
          <a:xfrm>
            <a:off x="3849262"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8" name="Google Shape;88;p15"/>
          <p:cNvSpPr txBox="1"/>
          <p:nvPr>
            <p:ph idx="6" type="body"/>
          </p:nvPr>
        </p:nvSpPr>
        <p:spPr>
          <a:xfrm>
            <a:off x="3849262" y="3809747"/>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9" name="Google Shape;89;p15"/>
          <p:cNvSpPr/>
          <p:nvPr>
            <p:ph idx="7" type="pic"/>
          </p:nvPr>
        </p:nvSpPr>
        <p:spPr>
          <a:xfrm>
            <a:off x="6655584" y="2428875"/>
            <a:ext cx="1066800" cy="1066800"/>
          </a:xfrm>
          <a:prstGeom prst="rect">
            <a:avLst/>
          </a:prstGeom>
          <a:solidFill>
            <a:schemeClr val="lt1"/>
          </a:solidFill>
          <a:ln>
            <a:noFill/>
          </a:ln>
        </p:spPr>
      </p:sp>
      <p:sp>
        <p:nvSpPr>
          <p:cNvPr id="90" name="Google Shape;90;p15"/>
          <p:cNvSpPr txBox="1"/>
          <p:nvPr>
            <p:ph idx="8" type="body"/>
          </p:nvPr>
        </p:nvSpPr>
        <p:spPr>
          <a:xfrm>
            <a:off x="6198355" y="3654378"/>
            <a:ext cx="2105135"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1" name="Google Shape;91;p15"/>
          <p:cNvSpPr txBox="1"/>
          <p:nvPr>
            <p:ph idx="9" type="body"/>
          </p:nvPr>
        </p:nvSpPr>
        <p:spPr>
          <a:xfrm>
            <a:off x="6095999" y="3809747"/>
            <a:ext cx="2299855"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2" name="Google Shape;92;p15"/>
          <p:cNvSpPr/>
          <p:nvPr>
            <p:ph idx="13" type="pic"/>
          </p:nvPr>
        </p:nvSpPr>
        <p:spPr>
          <a:xfrm>
            <a:off x="9136814" y="2428875"/>
            <a:ext cx="1066800" cy="1066800"/>
          </a:xfrm>
          <a:prstGeom prst="rect">
            <a:avLst/>
          </a:prstGeom>
          <a:solidFill>
            <a:schemeClr val="lt1"/>
          </a:solidFill>
          <a:ln>
            <a:noFill/>
          </a:ln>
        </p:spPr>
      </p:sp>
      <p:sp>
        <p:nvSpPr>
          <p:cNvPr id="93" name="Google Shape;93;p15"/>
          <p:cNvSpPr txBox="1"/>
          <p:nvPr>
            <p:ph idx="14" type="body"/>
          </p:nvPr>
        </p:nvSpPr>
        <p:spPr>
          <a:xfrm>
            <a:off x="8759806"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4" name="Google Shape;94;p15"/>
          <p:cNvSpPr txBox="1"/>
          <p:nvPr>
            <p:ph idx="15" type="body"/>
          </p:nvPr>
        </p:nvSpPr>
        <p:spPr>
          <a:xfrm>
            <a:off x="8744480" y="3809747"/>
            <a:ext cx="184412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5" name="Google Shape;95;p15"/>
          <p:cNvSpPr/>
          <p:nvPr>
            <p:ph idx="16" type="pic"/>
          </p:nvPr>
        </p:nvSpPr>
        <p:spPr>
          <a:xfrm>
            <a:off x="1877176" y="4287711"/>
            <a:ext cx="1066800" cy="1066800"/>
          </a:xfrm>
          <a:prstGeom prst="rect">
            <a:avLst/>
          </a:prstGeom>
          <a:solidFill>
            <a:schemeClr val="lt1"/>
          </a:solidFill>
          <a:ln>
            <a:noFill/>
          </a:ln>
        </p:spPr>
      </p:sp>
      <p:sp>
        <p:nvSpPr>
          <p:cNvPr id="96" name="Google Shape;96;p15"/>
          <p:cNvSpPr txBox="1"/>
          <p:nvPr>
            <p:ph idx="17" type="body"/>
          </p:nvPr>
        </p:nvSpPr>
        <p:spPr>
          <a:xfrm>
            <a:off x="1500168"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7" name="Google Shape;97;p15"/>
          <p:cNvSpPr txBox="1"/>
          <p:nvPr>
            <p:ph idx="18" type="body"/>
          </p:nvPr>
        </p:nvSpPr>
        <p:spPr>
          <a:xfrm>
            <a:off x="1500168" y="5668583"/>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8" name="Google Shape;98;p15"/>
          <p:cNvSpPr/>
          <p:nvPr>
            <p:ph idx="19" type="pic"/>
          </p:nvPr>
        </p:nvSpPr>
        <p:spPr>
          <a:xfrm>
            <a:off x="4226270" y="4287711"/>
            <a:ext cx="1066800" cy="1066800"/>
          </a:xfrm>
          <a:prstGeom prst="rect">
            <a:avLst/>
          </a:prstGeom>
          <a:solidFill>
            <a:schemeClr val="lt1"/>
          </a:solidFill>
          <a:ln>
            <a:noFill/>
          </a:ln>
        </p:spPr>
      </p:sp>
      <p:sp>
        <p:nvSpPr>
          <p:cNvPr id="99" name="Google Shape;99;p15"/>
          <p:cNvSpPr txBox="1"/>
          <p:nvPr>
            <p:ph idx="20" type="body"/>
          </p:nvPr>
        </p:nvSpPr>
        <p:spPr>
          <a:xfrm>
            <a:off x="3849262"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0" name="Google Shape;100;p15"/>
          <p:cNvSpPr txBox="1"/>
          <p:nvPr>
            <p:ph idx="21" type="body"/>
          </p:nvPr>
        </p:nvSpPr>
        <p:spPr>
          <a:xfrm>
            <a:off x="3849262" y="5668583"/>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1" name="Google Shape;101;p15"/>
          <p:cNvSpPr/>
          <p:nvPr>
            <p:ph idx="22" type="pic"/>
          </p:nvPr>
        </p:nvSpPr>
        <p:spPr>
          <a:xfrm>
            <a:off x="6655584" y="4287711"/>
            <a:ext cx="1066800" cy="1066800"/>
          </a:xfrm>
          <a:prstGeom prst="rect">
            <a:avLst/>
          </a:prstGeom>
          <a:solidFill>
            <a:schemeClr val="lt1"/>
          </a:solidFill>
          <a:ln>
            <a:noFill/>
          </a:ln>
        </p:spPr>
      </p:sp>
      <p:sp>
        <p:nvSpPr>
          <p:cNvPr id="102" name="Google Shape;102;p15"/>
          <p:cNvSpPr txBox="1"/>
          <p:nvPr>
            <p:ph idx="23" type="body"/>
          </p:nvPr>
        </p:nvSpPr>
        <p:spPr>
          <a:xfrm>
            <a:off x="6339926"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3" name="Google Shape;103;p15"/>
          <p:cNvSpPr txBox="1"/>
          <p:nvPr>
            <p:ph idx="24" type="body"/>
          </p:nvPr>
        </p:nvSpPr>
        <p:spPr>
          <a:xfrm>
            <a:off x="6339926" y="5668583"/>
            <a:ext cx="1813474"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4" name="Google Shape;104;p15"/>
          <p:cNvSpPr/>
          <p:nvPr>
            <p:ph idx="25" type="pic"/>
          </p:nvPr>
        </p:nvSpPr>
        <p:spPr>
          <a:xfrm>
            <a:off x="9136814" y="4287711"/>
            <a:ext cx="1066800" cy="1066800"/>
          </a:xfrm>
          <a:prstGeom prst="rect">
            <a:avLst/>
          </a:prstGeom>
          <a:solidFill>
            <a:schemeClr val="lt1"/>
          </a:solidFill>
          <a:ln>
            <a:noFill/>
          </a:ln>
        </p:spPr>
      </p:sp>
      <p:sp>
        <p:nvSpPr>
          <p:cNvPr id="105" name="Google Shape;105;p15"/>
          <p:cNvSpPr txBox="1"/>
          <p:nvPr>
            <p:ph idx="26" type="body"/>
          </p:nvPr>
        </p:nvSpPr>
        <p:spPr>
          <a:xfrm>
            <a:off x="8759806"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6" name="Google Shape;106;p15"/>
          <p:cNvSpPr txBox="1"/>
          <p:nvPr>
            <p:ph idx="27" type="body"/>
          </p:nvPr>
        </p:nvSpPr>
        <p:spPr>
          <a:xfrm>
            <a:off x="8744480" y="5668583"/>
            <a:ext cx="184412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 Art">
  <p:cSld name="Smart Art">
    <p:bg>
      <p:bgPr>
        <a:solidFill>
          <a:schemeClr val="lt1"/>
        </a:solidFill>
      </p:bgPr>
    </p:bg>
    <p:spTree>
      <p:nvGrpSpPr>
        <p:cNvPr id="109" name="Shape 109"/>
        <p:cNvGrpSpPr/>
        <p:nvPr/>
      </p:nvGrpSpPr>
      <p:grpSpPr>
        <a:xfrm>
          <a:off x="0" y="0"/>
          <a:ext cx="0" cy="0"/>
          <a:chOff x="0" y="0"/>
          <a:chExt cx="0" cy="0"/>
        </a:xfrm>
      </p:grpSpPr>
      <p:sp>
        <p:nvSpPr>
          <p:cNvPr id="110" name="Google Shape;110;p16"/>
          <p:cNvSpPr txBox="1"/>
          <p:nvPr>
            <p:ph type="title"/>
          </p:nvPr>
        </p:nvSpPr>
        <p:spPr>
          <a:xfrm>
            <a:off x="838200" y="365126"/>
            <a:ext cx="10199914" cy="1027906"/>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113" name="Google Shape;113;p16"/>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114" name="Google Shape;114;p16"/>
          <p:cNvSpPr txBox="1"/>
          <p:nvPr>
            <p:ph idx="1" type="body"/>
          </p:nvPr>
        </p:nvSpPr>
        <p:spPr>
          <a:xfrm>
            <a:off x="838200" y="1632858"/>
            <a:ext cx="10515599" cy="44413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1000"/>
              </a:spcBef>
              <a:spcAft>
                <a:spcPts val="0"/>
              </a:spcAft>
              <a:buClr>
                <a:schemeClr val="dk1"/>
              </a:buClr>
              <a:buSzPts val="2800"/>
              <a:buFont typeface="Arial"/>
              <a:buChar char="•"/>
              <a:defRPr sz="28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115" name="Shape 115"/>
        <p:cNvGrpSpPr/>
        <p:nvPr/>
      </p:nvGrpSpPr>
      <p:grpSpPr>
        <a:xfrm>
          <a:off x="0" y="0"/>
          <a:ext cx="0" cy="0"/>
          <a:chOff x="0" y="0"/>
          <a:chExt cx="0" cy="0"/>
        </a:xfrm>
      </p:grpSpPr>
      <p:sp>
        <p:nvSpPr>
          <p:cNvPr id="116" name="Google Shape;116;p17"/>
          <p:cNvSpPr/>
          <p:nvPr/>
        </p:nvSpPr>
        <p:spPr>
          <a:xfrm>
            <a:off x="2113884" y="0"/>
            <a:ext cx="10078116" cy="6858000"/>
          </a:xfrm>
          <a:custGeom>
            <a:rect b="b" l="l" r="r" t="t"/>
            <a:pathLst>
              <a:path extrusionOk="0" h="6858000" w="10078116">
                <a:moveTo>
                  <a:pt x="3793236" y="6858000"/>
                </a:moveTo>
                <a:lnTo>
                  <a:pt x="0" y="0"/>
                </a:lnTo>
                <a:lnTo>
                  <a:pt x="10078116" y="0"/>
                </a:lnTo>
                <a:lnTo>
                  <a:pt x="10078116" y="6858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17"/>
          <p:cNvSpPr txBox="1"/>
          <p:nvPr>
            <p:ph idx="1" type="body"/>
          </p:nvPr>
        </p:nvSpPr>
        <p:spPr>
          <a:xfrm>
            <a:off x="166074" y="1716780"/>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400"/>
              <a:buNone/>
              <a:defRPr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17"/>
          <p:cNvSpPr txBox="1"/>
          <p:nvPr>
            <p:ph idx="2" type="body"/>
          </p:nvPr>
        </p:nvSpPr>
        <p:spPr>
          <a:xfrm>
            <a:off x="732131" y="2793105"/>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17"/>
          <p:cNvSpPr txBox="1"/>
          <p:nvPr>
            <p:ph idx="3" type="body"/>
          </p:nvPr>
        </p:nvSpPr>
        <p:spPr>
          <a:xfrm>
            <a:off x="1338556" y="3869430"/>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7"/>
          <p:cNvSpPr txBox="1"/>
          <p:nvPr>
            <p:ph idx="4" type="body"/>
          </p:nvPr>
        </p:nvSpPr>
        <p:spPr>
          <a:xfrm>
            <a:off x="1922756" y="4958819"/>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7"/>
          <p:cNvSpPr txBox="1"/>
          <p:nvPr>
            <p:ph idx="5" type="body"/>
          </p:nvPr>
        </p:nvSpPr>
        <p:spPr>
          <a:xfrm>
            <a:off x="4388473" y="1482898"/>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17"/>
          <p:cNvSpPr txBox="1"/>
          <p:nvPr>
            <p:ph idx="6" type="body"/>
          </p:nvPr>
        </p:nvSpPr>
        <p:spPr>
          <a:xfrm>
            <a:off x="4986029" y="2604186"/>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17"/>
          <p:cNvSpPr txBox="1"/>
          <p:nvPr>
            <p:ph idx="7" type="body"/>
          </p:nvPr>
        </p:nvSpPr>
        <p:spPr>
          <a:xfrm>
            <a:off x="5576938" y="3677018"/>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17"/>
          <p:cNvSpPr txBox="1"/>
          <p:nvPr>
            <p:ph idx="8" type="body"/>
          </p:nvPr>
        </p:nvSpPr>
        <p:spPr>
          <a:xfrm>
            <a:off x="6175280" y="4785241"/>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17"/>
          <p:cNvSpPr txBox="1"/>
          <p:nvPr>
            <p:ph idx="11" type="ftr"/>
          </p:nvPr>
        </p:nvSpPr>
        <p:spPr>
          <a:xfrm>
            <a:off x="6749143" y="6356350"/>
            <a:ext cx="3775981"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17"/>
          <p:cNvSpPr txBox="1"/>
          <p:nvPr>
            <p:ph idx="12" type="sldNum"/>
          </p:nvPr>
        </p:nvSpPr>
        <p:spPr>
          <a:xfrm>
            <a:off x="10810874" y="6356350"/>
            <a:ext cx="5429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27" name="Google Shape;127;p17"/>
          <p:cNvCxnSpPr/>
          <p:nvPr/>
        </p:nvCxnSpPr>
        <p:spPr>
          <a:xfrm>
            <a:off x="4353515" y="5259067"/>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28" name="Google Shape;128;p17"/>
          <p:cNvCxnSpPr/>
          <p:nvPr/>
        </p:nvCxnSpPr>
        <p:spPr>
          <a:xfrm>
            <a:off x="3759917" y="4157459"/>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29" name="Google Shape;129;p17"/>
          <p:cNvCxnSpPr/>
          <p:nvPr/>
        </p:nvCxnSpPr>
        <p:spPr>
          <a:xfrm>
            <a:off x="3173453" y="3081694"/>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30" name="Google Shape;130;p17"/>
          <p:cNvCxnSpPr/>
          <p:nvPr/>
        </p:nvCxnSpPr>
        <p:spPr>
          <a:xfrm>
            <a:off x="2586263" y="2005091"/>
            <a:ext cx="1513211" cy="0"/>
          </a:xfrm>
          <a:prstGeom prst="straightConnector1">
            <a:avLst/>
          </a:prstGeom>
          <a:noFill/>
          <a:ln cap="flat" cmpd="sng" w="9525">
            <a:solidFill>
              <a:schemeClr val="dk1"/>
            </a:solidFill>
            <a:prstDash val="solid"/>
            <a:miter lim="800000"/>
            <a:headEnd len="sm" w="sm" type="none"/>
            <a:tailEnd len="sm" w="sm" type="none"/>
          </a:ln>
        </p:spPr>
      </p:cxnSp>
      <p:pic>
        <p:nvPicPr>
          <p:cNvPr descr="Birla Institute of Technology and Science, Pilani | Logopedia | Fandom" id="131" name="Google Shape;131;p17"/>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132" name="Google Shape;132;p17"/>
          <p:cNvSpPr txBox="1"/>
          <p:nvPr/>
        </p:nvSpPr>
        <p:spPr>
          <a:xfrm>
            <a:off x="729709" y="574358"/>
            <a:ext cx="6005376" cy="653184"/>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Agenda</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solidFill>
          <a:schemeClr val="accent1"/>
        </a:solidFill>
      </p:bgPr>
    </p:bg>
    <p:spTree>
      <p:nvGrpSpPr>
        <p:cNvPr id="133" name="Shape 133"/>
        <p:cNvGrpSpPr/>
        <p:nvPr/>
      </p:nvGrpSpPr>
      <p:grpSpPr>
        <a:xfrm>
          <a:off x="0" y="0"/>
          <a:ext cx="0" cy="0"/>
          <a:chOff x="0" y="0"/>
          <a:chExt cx="0" cy="0"/>
        </a:xfrm>
      </p:grpSpPr>
      <p:sp>
        <p:nvSpPr>
          <p:cNvPr id="134" name="Google Shape;134;p18"/>
          <p:cNvSpPr txBox="1"/>
          <p:nvPr>
            <p:ph type="title"/>
          </p:nvPr>
        </p:nvSpPr>
        <p:spPr>
          <a:xfrm>
            <a:off x="1243104" y="443369"/>
            <a:ext cx="10110696" cy="105151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8"/>
          <p:cNvSpPr txBox="1"/>
          <p:nvPr>
            <p:ph idx="1" type="body"/>
          </p:nvPr>
        </p:nvSpPr>
        <p:spPr>
          <a:xfrm>
            <a:off x="1243103" y="1932770"/>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6" name="Google Shape;136;p18"/>
          <p:cNvSpPr txBox="1"/>
          <p:nvPr>
            <p:ph idx="2" type="body"/>
          </p:nvPr>
        </p:nvSpPr>
        <p:spPr>
          <a:xfrm>
            <a:off x="1243104"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18"/>
          <p:cNvSpPr txBox="1"/>
          <p:nvPr>
            <p:ph idx="3" type="body"/>
          </p:nvPr>
        </p:nvSpPr>
        <p:spPr>
          <a:xfrm>
            <a:off x="4647664" y="1953443"/>
            <a:ext cx="289667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8" name="Google Shape;138;p18"/>
          <p:cNvSpPr txBox="1"/>
          <p:nvPr>
            <p:ph idx="4" type="body"/>
          </p:nvPr>
        </p:nvSpPr>
        <p:spPr>
          <a:xfrm>
            <a:off x="4647665" y="3056709"/>
            <a:ext cx="2896671"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18"/>
          <p:cNvSpPr txBox="1"/>
          <p:nvPr>
            <p:ph idx="5" type="body"/>
          </p:nvPr>
        </p:nvSpPr>
        <p:spPr>
          <a:xfrm>
            <a:off x="8066420" y="1958896"/>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0" name="Google Shape;140;p18"/>
          <p:cNvSpPr txBox="1"/>
          <p:nvPr>
            <p:ph idx="6" type="body"/>
          </p:nvPr>
        </p:nvSpPr>
        <p:spPr>
          <a:xfrm>
            <a:off x="8066421"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143" name="Google Shape;143;p18"/>
          <p:cNvPicPr preferRelativeResize="0"/>
          <p:nvPr/>
        </p:nvPicPr>
        <p:blipFill rotWithShape="1">
          <a:blip r:embed="rId2">
            <a:alphaModFix/>
          </a:blip>
          <a:srcRect b="0" l="0" r="0" t="0"/>
          <a:stretch/>
        </p:blipFill>
        <p:spPr>
          <a:xfrm>
            <a:off x="0" y="28575"/>
            <a:ext cx="704850" cy="7048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bg>
      <p:bgPr>
        <a:solidFill>
          <a:schemeClr val="lt1"/>
        </a:solidFill>
      </p:bgPr>
    </p:bg>
    <p:spTree>
      <p:nvGrpSpPr>
        <p:cNvPr id="144" name="Shape 144"/>
        <p:cNvGrpSpPr/>
        <p:nvPr/>
      </p:nvGrpSpPr>
      <p:grpSpPr>
        <a:xfrm>
          <a:off x="0" y="0"/>
          <a:ext cx="0" cy="0"/>
          <a:chOff x="0" y="0"/>
          <a:chExt cx="0" cy="0"/>
        </a:xfrm>
      </p:grpSpPr>
      <p:sp>
        <p:nvSpPr>
          <p:cNvPr id="145" name="Google Shape;145;p19"/>
          <p:cNvSpPr txBox="1"/>
          <p:nvPr>
            <p:ph type="title"/>
          </p:nvPr>
        </p:nvSpPr>
        <p:spPr>
          <a:xfrm>
            <a:off x="1243104" y="443369"/>
            <a:ext cx="10110696" cy="105151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19"/>
          <p:cNvSpPr txBox="1"/>
          <p:nvPr>
            <p:ph idx="1" type="body"/>
          </p:nvPr>
        </p:nvSpPr>
        <p:spPr>
          <a:xfrm>
            <a:off x="1243103" y="1932770"/>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7" name="Google Shape;147;p19"/>
          <p:cNvSpPr txBox="1"/>
          <p:nvPr>
            <p:ph idx="2" type="body"/>
          </p:nvPr>
        </p:nvSpPr>
        <p:spPr>
          <a:xfrm>
            <a:off x="1243104"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19"/>
          <p:cNvSpPr txBox="1"/>
          <p:nvPr>
            <p:ph idx="3" type="body"/>
          </p:nvPr>
        </p:nvSpPr>
        <p:spPr>
          <a:xfrm>
            <a:off x="4647664" y="1953443"/>
            <a:ext cx="289667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9" name="Google Shape;149;p19"/>
          <p:cNvSpPr txBox="1"/>
          <p:nvPr>
            <p:ph idx="4" type="body"/>
          </p:nvPr>
        </p:nvSpPr>
        <p:spPr>
          <a:xfrm>
            <a:off x="4647665" y="3056709"/>
            <a:ext cx="2896671"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19"/>
          <p:cNvSpPr txBox="1"/>
          <p:nvPr>
            <p:ph idx="5" type="body"/>
          </p:nvPr>
        </p:nvSpPr>
        <p:spPr>
          <a:xfrm>
            <a:off x="8066420" y="1958896"/>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1" name="Google Shape;151;p19"/>
          <p:cNvSpPr txBox="1"/>
          <p:nvPr>
            <p:ph idx="6" type="body"/>
          </p:nvPr>
        </p:nvSpPr>
        <p:spPr>
          <a:xfrm>
            <a:off x="8066421"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154" name="Google Shape;154;p19"/>
          <p:cNvPicPr preferRelativeResize="0"/>
          <p:nvPr/>
        </p:nvPicPr>
        <p:blipFill rotWithShape="1">
          <a:blip r:embed="rId2">
            <a:alphaModFix/>
          </a:blip>
          <a:srcRect b="0" l="0" r="0" t="0"/>
          <a:stretch/>
        </p:blipFill>
        <p:spPr>
          <a:xfrm>
            <a:off x="0" y="28575"/>
            <a:ext cx="704850" cy="7048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spTree>
      <p:nvGrpSpPr>
        <p:cNvPr id="155" name="Shape 155"/>
        <p:cNvGrpSpPr/>
        <p:nvPr/>
      </p:nvGrpSpPr>
      <p:grpSpPr>
        <a:xfrm>
          <a:off x="0" y="0"/>
          <a:ext cx="0" cy="0"/>
          <a:chOff x="0" y="0"/>
          <a:chExt cx="0" cy="0"/>
        </a:xfrm>
      </p:grpSpPr>
      <p:sp>
        <p:nvSpPr>
          <p:cNvPr id="156" name="Google Shape;156;p20"/>
          <p:cNvSpPr txBox="1"/>
          <p:nvPr>
            <p:ph type="title"/>
          </p:nvPr>
        </p:nvSpPr>
        <p:spPr>
          <a:xfrm>
            <a:off x="3853543" y="1671639"/>
            <a:ext cx="6735082" cy="120491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20"/>
          <p:cNvSpPr txBox="1"/>
          <p:nvPr>
            <p:ph idx="1" type="body"/>
          </p:nvPr>
        </p:nvSpPr>
        <p:spPr>
          <a:xfrm>
            <a:off x="3853543" y="3660774"/>
            <a:ext cx="6735082" cy="1525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58" name="Google Shape;15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TS Pilani logo" id="160" name="Google Shape;160;p20"/>
          <p:cNvPicPr preferRelativeResize="0"/>
          <p:nvPr/>
        </p:nvPicPr>
        <p:blipFill rotWithShape="1">
          <a:blip r:embed="rId2">
            <a:alphaModFix/>
          </a:blip>
          <a:srcRect b="0" l="0" r="0" t="0"/>
          <a:stretch/>
        </p:blipFill>
        <p:spPr>
          <a:xfrm>
            <a:off x="8836705" y="192510"/>
            <a:ext cx="3338739" cy="865907"/>
          </a:xfrm>
          <a:prstGeom prst="rect">
            <a:avLst/>
          </a:prstGeom>
          <a:noFill/>
          <a:ln>
            <a:noFill/>
          </a:ln>
        </p:spPr>
      </p:pic>
    </p:spTree>
  </p:cSld>
  <p:clrMapOvr>
    <a:masterClrMapping/>
  </p:clrMapOvr>
  <p:extLst>
    <p:ext uri="{DCECCB84-F9BA-43D5-87BE-67443E8EF086}">
      <p15:sldGuideLst>
        <p15:guide id="1" pos="300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bg>
      <p:bgPr>
        <a:solidFill>
          <a:schemeClr val="dk1"/>
        </a:solidFill>
      </p:bgPr>
    </p:bg>
    <p:spTree>
      <p:nvGrpSpPr>
        <p:cNvPr id="161" name="Shape 161"/>
        <p:cNvGrpSpPr/>
        <p:nvPr/>
      </p:nvGrpSpPr>
      <p:grpSpPr>
        <a:xfrm>
          <a:off x="0" y="0"/>
          <a:ext cx="0" cy="0"/>
          <a:chOff x="0" y="0"/>
          <a:chExt cx="0" cy="0"/>
        </a:xfrm>
      </p:grpSpPr>
      <p:sp>
        <p:nvSpPr>
          <p:cNvPr id="162" name="Google Shape;162;p21"/>
          <p:cNvSpPr txBox="1"/>
          <p:nvPr>
            <p:ph type="ctrTitle"/>
          </p:nvPr>
        </p:nvSpPr>
        <p:spPr>
          <a:xfrm>
            <a:off x="4267200" y="1615736"/>
            <a:ext cx="4179570" cy="152473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21"/>
          <p:cNvSpPr txBox="1"/>
          <p:nvPr>
            <p:ph idx="1" type="subTitle"/>
          </p:nvPr>
        </p:nvSpPr>
        <p:spPr>
          <a:xfrm>
            <a:off x="4267200" y="3238103"/>
            <a:ext cx="4179570" cy="1371997"/>
          </a:xfrm>
          <a:prstGeom prst="rect">
            <a:avLst/>
          </a:prstGeom>
          <a:noFill/>
          <a:ln>
            <a:noFill/>
          </a:ln>
        </p:spPr>
        <p:txBody>
          <a:bodyPr anchorCtr="0" anchor="t" bIns="45700" lIns="91425" spcFirstLastPara="1" rIns="91425" wrap="square" tIns="45700">
            <a:normAutofit/>
          </a:bodyPr>
          <a:lstStyle>
            <a:lvl1pPr lvl="0" algn="l">
              <a:lnSpc>
                <a:spcPct val="150000"/>
              </a:lnSpc>
              <a:spcBef>
                <a:spcPts val="1000"/>
              </a:spcBef>
              <a:spcAft>
                <a:spcPts val="0"/>
              </a:spcAft>
              <a:buClr>
                <a:schemeClr val="lt1"/>
              </a:buClr>
              <a:buSzPts val="1400"/>
              <a:buNone/>
              <a:defRPr sz="1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64" name="Google Shape;164;p21"/>
          <p:cNvPicPr preferRelativeResize="0"/>
          <p:nvPr/>
        </p:nvPicPr>
        <p:blipFill rotWithShape="1">
          <a:blip r:embed="rId2">
            <a:alphaModFix/>
          </a:blip>
          <a:srcRect b="0" l="0" r="0" t="0"/>
          <a:stretch/>
        </p:blipFill>
        <p:spPr>
          <a:xfrm>
            <a:off x="0" y="0"/>
            <a:ext cx="3176938" cy="6858000"/>
          </a:xfrm>
          <a:prstGeom prst="rect">
            <a:avLst/>
          </a:prstGeom>
          <a:noFill/>
          <a:ln>
            <a:noFill/>
          </a:ln>
        </p:spPr>
      </p:pic>
      <p:sp>
        <p:nvSpPr>
          <p:cNvPr id="165" name="Google Shape;165;p21"/>
          <p:cNvSpPr txBox="1"/>
          <p:nvPr>
            <p:ph idx="11" type="ftr"/>
          </p:nvPr>
        </p:nvSpPr>
        <p:spPr>
          <a:xfrm>
            <a:off x="6479721" y="6356350"/>
            <a:ext cx="266155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21"/>
          <p:cNvSpPr txBox="1"/>
          <p:nvPr>
            <p:ph idx="12" type="sldNum"/>
          </p:nvPr>
        </p:nvSpPr>
        <p:spPr>
          <a:xfrm>
            <a:off x="9579428" y="6356350"/>
            <a:ext cx="177437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838200" y="365125"/>
            <a:ext cx="10515599"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3.png"/><Relationship Id="rId6" Type="http://schemas.openxmlformats.org/officeDocument/2006/relationships/image" Target="../media/image26.png"/><Relationship Id="rId7" Type="http://schemas.openxmlformats.org/officeDocument/2006/relationships/image" Target="../media/image14.png"/><Relationship Id="rId8"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13.png"/><Relationship Id="rId9"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14.png"/><Relationship Id="rId7" Type="http://schemas.openxmlformats.org/officeDocument/2006/relationships/image" Target="../media/image25.png"/><Relationship Id="rId8"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2.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
          <p:cNvSpPr txBox="1"/>
          <p:nvPr>
            <p:ph type="ctrTitle"/>
          </p:nvPr>
        </p:nvSpPr>
        <p:spPr>
          <a:xfrm>
            <a:off x="4275340" y="3079568"/>
            <a:ext cx="7347514" cy="6988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t/>
            </a:r>
            <a:endParaRPr/>
          </a:p>
          <a:p>
            <a:pPr indent="0" lvl="0" marL="0" rtl="0" algn="l">
              <a:lnSpc>
                <a:spcPct val="90000"/>
              </a:lnSpc>
              <a:spcBef>
                <a:spcPts val="0"/>
              </a:spcBef>
              <a:spcAft>
                <a:spcPts val="0"/>
              </a:spcAft>
              <a:buClr>
                <a:schemeClr val="dk1"/>
              </a:buClr>
              <a:buSzPts val="3600"/>
              <a:buFont typeface="Calibri"/>
              <a:buNone/>
            </a:pPr>
            <a:r>
              <a:rPr lang="en-US" u="sng"/>
              <a:t>Session #1: </a:t>
            </a:r>
            <a:endParaRPr u="sng"/>
          </a:p>
          <a:p>
            <a:pPr indent="0" lvl="0" marL="0" rtl="0" algn="l">
              <a:lnSpc>
                <a:spcPct val="90000"/>
              </a:lnSpc>
              <a:spcBef>
                <a:spcPts val="0"/>
              </a:spcBef>
              <a:spcAft>
                <a:spcPts val="0"/>
              </a:spcAft>
              <a:buClr>
                <a:schemeClr val="dk1"/>
              </a:buClr>
              <a:buSzPts val="3600"/>
              <a:buFont typeface="Calibri"/>
              <a:buNone/>
            </a:pPr>
            <a:r>
              <a:rPr lang="en-US"/>
              <a:t>Introduction to the Course</a:t>
            </a:r>
            <a:endParaRPr/>
          </a:p>
        </p:txBody>
      </p:sp>
      <p:sp>
        <p:nvSpPr>
          <p:cNvPr id="172" name="Google Shape;172;p1"/>
          <p:cNvSpPr txBox="1"/>
          <p:nvPr>
            <p:ph idx="4294967295" type="sldNum"/>
          </p:nvPr>
        </p:nvSpPr>
        <p:spPr>
          <a:xfrm>
            <a:off x="94488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
          <p:cNvSpPr txBox="1"/>
          <p:nvPr>
            <p:ph idx="1" type="body"/>
          </p:nvPr>
        </p:nvSpPr>
        <p:spPr>
          <a:xfrm>
            <a:off x="1362074" y="1379349"/>
            <a:ext cx="9316258" cy="4512000"/>
          </a:xfrm>
          <a:prstGeom prst="rect">
            <a:avLst/>
          </a:prstGeom>
          <a:noFill/>
          <a:ln>
            <a:noFill/>
          </a:ln>
        </p:spPr>
        <p:txBody>
          <a:bodyPr anchorCtr="0" anchor="t" bIns="45700" lIns="91425" spcFirstLastPara="1" rIns="91425" wrap="square" tIns="45700">
            <a:normAutofit/>
          </a:bodyPr>
          <a:lstStyle/>
          <a:p>
            <a:pPr indent="0" lvl="0" marL="76200" rtl="0" algn="ctr">
              <a:lnSpc>
                <a:spcPct val="100000"/>
              </a:lnSpc>
              <a:spcBef>
                <a:spcPts val="1000"/>
              </a:spcBef>
              <a:spcAft>
                <a:spcPts val="0"/>
              </a:spcAft>
              <a:buSzPts val="2400"/>
              <a:buNone/>
            </a:pPr>
            <a:r>
              <a:t/>
            </a:r>
            <a:endParaRPr>
              <a:solidFill>
                <a:srgbClr val="0070C0"/>
              </a:solidFill>
            </a:endParaRPr>
          </a:p>
          <a:p>
            <a:pPr indent="0" lvl="0" marL="76200" rtl="0" algn="ctr">
              <a:lnSpc>
                <a:spcPct val="100000"/>
              </a:lnSpc>
              <a:spcBef>
                <a:spcPts val="1000"/>
              </a:spcBef>
              <a:spcAft>
                <a:spcPts val="0"/>
              </a:spcAft>
              <a:buSzPts val="2400"/>
              <a:buNone/>
            </a:pPr>
            <a:r>
              <a:t/>
            </a:r>
            <a:endParaRPr>
              <a:solidFill>
                <a:srgbClr val="0070C0"/>
              </a:solidFill>
            </a:endParaRPr>
          </a:p>
          <a:p>
            <a:pPr indent="0" lvl="0" marL="76200" rtl="0" algn="ctr">
              <a:lnSpc>
                <a:spcPct val="100000"/>
              </a:lnSpc>
              <a:spcBef>
                <a:spcPts val="1000"/>
              </a:spcBef>
              <a:spcAft>
                <a:spcPts val="0"/>
              </a:spcAft>
              <a:buSzPts val="2400"/>
              <a:buNone/>
            </a:pPr>
            <a:r>
              <a:rPr lang="en-US">
                <a:solidFill>
                  <a:srgbClr val="0070C0"/>
                </a:solidFill>
              </a:rPr>
              <a:t>Some content for the slides may have been obtained from prescribed books and various other  source on the Internet. The authors , hereby acknowledge all the contributors for their material and inputs and gratefully acknowledge those who made their course materials freely available online.</a:t>
            </a:r>
            <a:endParaRPr/>
          </a:p>
          <a:p>
            <a:pPr indent="0" lvl="0" marL="76200" rtl="0" algn="l">
              <a:lnSpc>
                <a:spcPct val="100000"/>
              </a:lnSpc>
              <a:spcBef>
                <a:spcPts val="1000"/>
              </a:spcBef>
              <a:spcAft>
                <a:spcPts val="0"/>
              </a:spcAft>
              <a:buSzPts val="2400"/>
              <a:buNone/>
            </a:pPr>
            <a:r>
              <a:t/>
            </a:r>
            <a:endParaRPr/>
          </a:p>
        </p:txBody>
      </p:sp>
      <p:sp>
        <p:nvSpPr>
          <p:cNvPr id="178" name="Google Shape;17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44ec1b14fb_0_0"/>
          <p:cNvSpPr txBox="1"/>
          <p:nvPr>
            <p:ph type="title"/>
          </p:nvPr>
        </p:nvSpPr>
        <p:spPr>
          <a:xfrm>
            <a:off x="468449" y="1671639"/>
            <a:ext cx="6005400" cy="653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200"/>
              <a:buNone/>
            </a:pPr>
            <a:r>
              <a:rPr lang="en-US"/>
              <a:t>Agenda</a:t>
            </a:r>
            <a:endParaRPr/>
          </a:p>
        </p:txBody>
      </p:sp>
      <p:sp>
        <p:nvSpPr>
          <p:cNvPr id="185" name="Google Shape;185;g244ec1b14fb_0_0"/>
          <p:cNvSpPr txBox="1"/>
          <p:nvPr>
            <p:ph idx="1" type="body"/>
          </p:nvPr>
        </p:nvSpPr>
        <p:spPr>
          <a:xfrm>
            <a:off x="1362075" y="2586450"/>
            <a:ext cx="10033200" cy="17589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en-US"/>
              <a:t>Course Introduction </a:t>
            </a:r>
            <a:endParaRPr/>
          </a:p>
          <a:p>
            <a:pPr indent="-228600" lvl="1" marL="914400" rtl="0" algn="l">
              <a:lnSpc>
                <a:spcPct val="100000"/>
              </a:lnSpc>
              <a:spcBef>
                <a:spcPts val="0"/>
              </a:spcBef>
              <a:spcAft>
                <a:spcPts val="0"/>
              </a:spcAft>
              <a:buSzPts val="2000"/>
              <a:buNone/>
            </a:pPr>
            <a:r>
              <a:rPr lang="en-US"/>
              <a:t>Outline of Course, Evaluation &amp; Operation</a:t>
            </a:r>
            <a:endParaRPr/>
          </a:p>
          <a:p>
            <a:pPr indent="-228600" lvl="1" marL="914400" rtl="0" algn="l">
              <a:lnSpc>
                <a:spcPct val="100000"/>
              </a:lnSpc>
              <a:spcBef>
                <a:spcPts val="0"/>
              </a:spcBef>
              <a:spcAft>
                <a:spcPts val="0"/>
              </a:spcAft>
              <a:buSzPts val="2000"/>
              <a:buNone/>
            </a:pPr>
            <a:r>
              <a:t/>
            </a:r>
            <a:endParaRPr/>
          </a:p>
          <a:p>
            <a:pPr indent="-381000" lvl="0" marL="457200" rtl="0" algn="l">
              <a:lnSpc>
                <a:spcPct val="100000"/>
              </a:lnSpc>
              <a:spcBef>
                <a:spcPts val="0"/>
              </a:spcBef>
              <a:spcAft>
                <a:spcPts val="0"/>
              </a:spcAft>
              <a:buSzPts val="2400"/>
              <a:buChar char="-"/>
            </a:pPr>
            <a:r>
              <a:rPr lang="en-US"/>
              <a:t>Introducing Reinforcement Learning </a:t>
            </a:r>
            <a:endParaRPr/>
          </a:p>
        </p:txBody>
      </p:sp>
      <p:sp>
        <p:nvSpPr>
          <p:cNvPr id="186" name="Google Shape;186;g244ec1b14fb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189367e966_0_0"/>
          <p:cNvSpPr txBox="1"/>
          <p:nvPr>
            <p:ph type="title"/>
          </p:nvPr>
        </p:nvSpPr>
        <p:spPr>
          <a:xfrm>
            <a:off x="468449" y="1671639"/>
            <a:ext cx="6005400" cy="653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200"/>
              <a:buNone/>
            </a:pPr>
            <a:r>
              <a:rPr lang="en-US"/>
              <a:t>What is Reinforcement Learning ?</a:t>
            </a:r>
            <a:endParaRPr/>
          </a:p>
        </p:txBody>
      </p:sp>
      <p:sp>
        <p:nvSpPr>
          <p:cNvPr id="193" name="Google Shape;193;g3189367e966_0_0"/>
          <p:cNvSpPr txBox="1"/>
          <p:nvPr>
            <p:ph idx="1" type="body"/>
          </p:nvPr>
        </p:nvSpPr>
        <p:spPr>
          <a:xfrm>
            <a:off x="1362075" y="2586450"/>
            <a:ext cx="10033200" cy="17589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1000"/>
              </a:spcBef>
              <a:spcAft>
                <a:spcPts val="0"/>
              </a:spcAft>
              <a:buSzPts val="2400"/>
              <a:buChar char="-"/>
            </a:pPr>
            <a:r>
              <a:rPr lang="en-US"/>
              <a:t>reward based learning / feedback based learning</a:t>
            </a:r>
            <a:endParaRPr/>
          </a:p>
          <a:p>
            <a:pPr indent="-355600" lvl="0" marL="457200" rtl="0" algn="l">
              <a:lnSpc>
                <a:spcPct val="100000"/>
              </a:lnSpc>
              <a:spcBef>
                <a:spcPts val="0"/>
              </a:spcBef>
              <a:spcAft>
                <a:spcPts val="0"/>
              </a:spcAft>
              <a:buSzPts val="2000"/>
              <a:buChar char="-"/>
            </a:pPr>
            <a:r>
              <a:rPr lang="en-US"/>
              <a:t>not a type of NN nor it is an alternative to NN. Rather it is an approach for learning</a:t>
            </a:r>
            <a:endParaRPr/>
          </a:p>
          <a:p>
            <a:pPr indent="-381000" lvl="0" marL="457200" rtl="0" algn="l">
              <a:lnSpc>
                <a:spcPct val="100000"/>
              </a:lnSpc>
              <a:spcBef>
                <a:spcPts val="0"/>
              </a:spcBef>
              <a:spcAft>
                <a:spcPts val="0"/>
              </a:spcAft>
              <a:buSzPts val="2400"/>
              <a:buChar char="-"/>
            </a:pPr>
            <a:r>
              <a:rPr lang="en-US"/>
              <a:t>Autonomous driving, gaming</a:t>
            </a:r>
            <a:endParaRPr/>
          </a:p>
        </p:txBody>
      </p:sp>
      <p:sp>
        <p:nvSpPr>
          <p:cNvPr id="194" name="Google Shape;194;g3189367e966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195" name="Google Shape;195;g3189367e966_0_0"/>
          <p:cNvSpPr txBox="1"/>
          <p:nvPr>
            <p:ph type="title"/>
          </p:nvPr>
        </p:nvSpPr>
        <p:spPr>
          <a:xfrm>
            <a:off x="587249" y="4345339"/>
            <a:ext cx="6005400" cy="653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200"/>
              <a:buNone/>
            </a:pPr>
            <a:r>
              <a:rPr lang="en-US"/>
              <a:t>Why Reinforcement Learning ?</a:t>
            </a:r>
            <a:endParaRPr/>
          </a:p>
        </p:txBody>
      </p:sp>
      <p:sp>
        <p:nvSpPr>
          <p:cNvPr id="196" name="Google Shape;196;g3189367e966_0_0"/>
          <p:cNvSpPr txBox="1"/>
          <p:nvPr>
            <p:ph idx="1" type="body"/>
          </p:nvPr>
        </p:nvSpPr>
        <p:spPr>
          <a:xfrm>
            <a:off x="1497675" y="4998450"/>
            <a:ext cx="10033200" cy="11871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1000"/>
              </a:spcBef>
              <a:spcAft>
                <a:spcPts val="0"/>
              </a:spcAft>
              <a:buSzPts val="2400"/>
              <a:buChar char="-"/>
            </a:pPr>
            <a:r>
              <a:rPr lang="en-US">
                <a:solidFill>
                  <a:srgbClr val="222222"/>
                </a:solidFill>
                <a:highlight>
                  <a:srgbClr val="FFFFFF"/>
                </a:highlight>
              </a:rPr>
              <a:t>a goal-oriented learning based on interaction with environment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2217600a579_0_17"/>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Course Objectives </a:t>
            </a:r>
            <a:endParaRPr/>
          </a:p>
        </p:txBody>
      </p:sp>
      <p:sp>
        <p:nvSpPr>
          <p:cNvPr id="202" name="Google Shape;202;g2217600a579_0_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203" name="Google Shape;203;g2217600a579_0_17"/>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SzPts val="2800"/>
              <a:buNone/>
            </a:pPr>
            <a:r>
              <a:rPr b="1" lang="en-US" sz="2100"/>
              <a:t>Course Objectives</a:t>
            </a:r>
            <a:r>
              <a:rPr lang="en-US" sz="2100"/>
              <a:t>: </a:t>
            </a:r>
            <a:endParaRPr sz="2100"/>
          </a:p>
          <a:p>
            <a:pPr indent="-374650" lvl="0" marL="457200" rtl="0" algn="just">
              <a:lnSpc>
                <a:spcPct val="115000"/>
              </a:lnSpc>
              <a:spcBef>
                <a:spcPts val="0"/>
              </a:spcBef>
              <a:spcAft>
                <a:spcPts val="0"/>
              </a:spcAft>
              <a:buSzPts val="2300"/>
              <a:buFont typeface="Calibri"/>
              <a:buAutoNum type="arabicPeriod"/>
            </a:pPr>
            <a:r>
              <a:rPr lang="en-US" sz="2300"/>
              <a:t>Understand </a:t>
            </a:r>
            <a:endParaRPr sz="2300"/>
          </a:p>
          <a:p>
            <a:pPr indent="-374650" lvl="1" marL="914400" rtl="0" algn="just">
              <a:lnSpc>
                <a:spcPct val="115000"/>
              </a:lnSpc>
              <a:spcBef>
                <a:spcPts val="0"/>
              </a:spcBef>
              <a:spcAft>
                <a:spcPts val="0"/>
              </a:spcAft>
              <a:buClr>
                <a:schemeClr val="dk1"/>
              </a:buClr>
              <a:buSzPts val="2300"/>
              <a:buFont typeface="Calibri"/>
              <a:buAutoNum type="alphaLcPeriod"/>
            </a:pPr>
            <a:r>
              <a:rPr lang="en-US" sz="2300">
                <a:solidFill>
                  <a:schemeClr val="dk1"/>
                </a:solidFill>
              </a:rPr>
              <a:t>the conceptual, mathematical foundations of deep reinforcement learning</a:t>
            </a:r>
            <a:endParaRPr sz="2300">
              <a:solidFill>
                <a:schemeClr val="dk1"/>
              </a:solidFill>
            </a:endParaRPr>
          </a:p>
          <a:p>
            <a:pPr indent="-374650" lvl="1" marL="914400" rtl="0" algn="just">
              <a:lnSpc>
                <a:spcPct val="115000"/>
              </a:lnSpc>
              <a:spcBef>
                <a:spcPts val="0"/>
              </a:spcBef>
              <a:spcAft>
                <a:spcPts val="0"/>
              </a:spcAft>
              <a:buClr>
                <a:schemeClr val="dk1"/>
              </a:buClr>
              <a:buSzPts val="2300"/>
              <a:buFont typeface="Calibri"/>
              <a:buAutoNum type="alphaLcPeriod"/>
            </a:pPr>
            <a:r>
              <a:rPr lang="en-US" sz="2300">
                <a:solidFill>
                  <a:schemeClr val="dk1"/>
                </a:solidFill>
              </a:rPr>
              <a:t>various classic &amp; state of the art Deep Reinforcement Learning algorithms</a:t>
            </a:r>
            <a:endParaRPr sz="2300">
              <a:solidFill>
                <a:schemeClr val="dk1"/>
              </a:solidFill>
            </a:endParaRPr>
          </a:p>
          <a:p>
            <a:pPr indent="-374650" lvl="0" marL="457200" rtl="0" algn="just">
              <a:lnSpc>
                <a:spcPct val="115000"/>
              </a:lnSpc>
              <a:spcBef>
                <a:spcPts val="0"/>
              </a:spcBef>
              <a:spcAft>
                <a:spcPts val="0"/>
              </a:spcAft>
              <a:buSzPts val="2300"/>
              <a:buFont typeface="Calibri"/>
              <a:buAutoNum type="arabicPeriod"/>
            </a:pPr>
            <a:r>
              <a:rPr lang="en-US" sz="2300"/>
              <a:t>Implement and Evaluate the deep reinforcement learning solutions to various problems like planning, control and decision making in various domains</a:t>
            </a:r>
            <a:endParaRPr sz="2300"/>
          </a:p>
          <a:p>
            <a:pPr indent="-374650" lvl="0" marL="457200" rtl="0" algn="just">
              <a:lnSpc>
                <a:spcPct val="115000"/>
              </a:lnSpc>
              <a:spcBef>
                <a:spcPts val="0"/>
              </a:spcBef>
              <a:spcAft>
                <a:spcPts val="0"/>
              </a:spcAft>
              <a:buSzPts val="2300"/>
              <a:buFont typeface="Calibri"/>
              <a:buAutoNum type="arabicPeriod"/>
            </a:pPr>
            <a:r>
              <a:rPr lang="en-US" sz="2300"/>
              <a:t>Provide conceptual, mathematical and practical exposure on DRL</a:t>
            </a:r>
            <a:endParaRPr sz="2300"/>
          </a:p>
          <a:p>
            <a:pPr indent="-374650" lvl="1" marL="914400" rtl="0" algn="just">
              <a:lnSpc>
                <a:spcPct val="115000"/>
              </a:lnSpc>
              <a:spcBef>
                <a:spcPts val="0"/>
              </a:spcBef>
              <a:spcAft>
                <a:spcPts val="0"/>
              </a:spcAft>
              <a:buClr>
                <a:schemeClr val="dk1"/>
              </a:buClr>
              <a:buSzPts val="2300"/>
              <a:buFont typeface="Calibri"/>
              <a:buAutoNum type="alphaLcPeriod"/>
            </a:pPr>
            <a:r>
              <a:rPr lang="en-US" sz="2300">
                <a:solidFill>
                  <a:schemeClr val="dk1"/>
                </a:solidFill>
              </a:rPr>
              <a:t>to understand the recent developments in deep reinforcement learning and </a:t>
            </a:r>
            <a:endParaRPr sz="2300">
              <a:solidFill>
                <a:schemeClr val="dk1"/>
              </a:solidFill>
            </a:endParaRPr>
          </a:p>
          <a:p>
            <a:pPr indent="-374650" lvl="1" marL="914400" rtl="0" algn="just">
              <a:lnSpc>
                <a:spcPct val="115000"/>
              </a:lnSpc>
              <a:spcBef>
                <a:spcPts val="0"/>
              </a:spcBef>
              <a:spcAft>
                <a:spcPts val="0"/>
              </a:spcAft>
              <a:buClr>
                <a:schemeClr val="dk1"/>
              </a:buClr>
              <a:buSzPts val="2300"/>
              <a:buFont typeface="Calibri"/>
              <a:buAutoNum type="alphaLcPeriod"/>
            </a:pPr>
            <a:r>
              <a:rPr lang="en-US" sz="2300">
                <a:solidFill>
                  <a:schemeClr val="dk1"/>
                </a:solidFill>
              </a:rPr>
              <a:t>to enable modelling new problems as DRL problems. </a:t>
            </a:r>
            <a:endParaRPr sz="2300">
              <a:solidFill>
                <a:schemeClr val="dk1"/>
              </a:solidFill>
            </a:endParaRPr>
          </a:p>
          <a:p>
            <a:pPr indent="0" lvl="0" marL="0" rtl="0" algn="just">
              <a:lnSpc>
                <a:spcPct val="115000"/>
              </a:lnSpc>
              <a:spcBef>
                <a:spcPts val="0"/>
              </a:spcBef>
              <a:spcAft>
                <a:spcPts val="0"/>
              </a:spcAft>
              <a:buSzPts val="2800"/>
              <a:buNone/>
            </a:pPr>
            <a:r>
              <a:t/>
            </a:r>
            <a:endParaRPr sz="2100"/>
          </a:p>
          <a:p>
            <a:pPr indent="0" lvl="0" marL="457200" rtl="0" algn="just">
              <a:lnSpc>
                <a:spcPct val="115000"/>
              </a:lnSpc>
              <a:spcBef>
                <a:spcPts val="0"/>
              </a:spcBef>
              <a:spcAft>
                <a:spcPts val="0"/>
              </a:spcAft>
              <a:buSzPts val="2800"/>
              <a:buNone/>
            </a:pPr>
            <a:r>
              <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244ec1b14fb_0_11"/>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Learning Outcomes</a:t>
            </a:r>
            <a:endParaRPr/>
          </a:p>
        </p:txBody>
      </p:sp>
      <p:sp>
        <p:nvSpPr>
          <p:cNvPr id="210" name="Google Shape;210;g244ec1b14fb_0_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11" name="Google Shape;211;g244ec1b14fb_0_11"/>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0"/>
              </a:spcBef>
              <a:spcAft>
                <a:spcPts val="0"/>
              </a:spcAft>
              <a:buClr>
                <a:schemeClr val="dk1"/>
              </a:buClr>
              <a:buSzPts val="2800"/>
              <a:buFont typeface="Arial"/>
              <a:buNone/>
            </a:pPr>
            <a:r>
              <a:t/>
            </a:r>
            <a:endParaRPr sz="2100"/>
          </a:p>
          <a:p>
            <a:pPr indent="-374650" lvl="0" marL="457200" rtl="0" algn="just">
              <a:lnSpc>
                <a:spcPct val="115000"/>
              </a:lnSpc>
              <a:spcBef>
                <a:spcPts val="0"/>
              </a:spcBef>
              <a:spcAft>
                <a:spcPts val="0"/>
              </a:spcAft>
              <a:buSzPts val="2300"/>
              <a:buFont typeface="Calibri"/>
              <a:buAutoNum type="arabicPeriod"/>
            </a:pPr>
            <a:r>
              <a:rPr lang="en-US" sz="2300"/>
              <a:t>Understand the fundamental concepts of reinforcement learning (RL), algorithms and apply them for solving problems including control, decision-making, and planning.</a:t>
            </a:r>
            <a:endParaRPr sz="2300"/>
          </a:p>
          <a:p>
            <a:pPr indent="-374650" lvl="0" marL="457200" rtl="0" algn="just">
              <a:lnSpc>
                <a:spcPct val="115000"/>
              </a:lnSpc>
              <a:spcBef>
                <a:spcPts val="0"/>
              </a:spcBef>
              <a:spcAft>
                <a:spcPts val="0"/>
              </a:spcAft>
              <a:buSzPts val="2300"/>
              <a:buFont typeface="Calibri"/>
              <a:buAutoNum type="arabicPeriod"/>
            </a:pPr>
            <a:r>
              <a:rPr lang="en-US" sz="2300"/>
              <a:t>Implement DRL algorithms, handle challenges in training due to stability and convergence </a:t>
            </a:r>
            <a:endParaRPr sz="2300"/>
          </a:p>
          <a:p>
            <a:pPr indent="-374650" lvl="0" marL="457200" rtl="0" algn="just">
              <a:lnSpc>
                <a:spcPct val="115000"/>
              </a:lnSpc>
              <a:spcBef>
                <a:spcPts val="0"/>
              </a:spcBef>
              <a:spcAft>
                <a:spcPts val="0"/>
              </a:spcAft>
              <a:buSzPts val="2300"/>
              <a:buFont typeface="Calibri"/>
              <a:buAutoNum type="arabicPeriod"/>
            </a:pPr>
            <a:r>
              <a:rPr lang="en-US" sz="2300"/>
              <a:t>Evaluate the performance of DRL algorithms, including metrics such as sample efficiency, robustness and generalization.</a:t>
            </a:r>
            <a:endParaRPr sz="2300"/>
          </a:p>
          <a:p>
            <a:pPr indent="-374650" lvl="0" marL="457200" rtl="0" algn="just">
              <a:lnSpc>
                <a:spcPct val="115000"/>
              </a:lnSpc>
              <a:spcBef>
                <a:spcPts val="0"/>
              </a:spcBef>
              <a:spcAft>
                <a:spcPts val="0"/>
              </a:spcAft>
              <a:buSzPts val="2300"/>
              <a:buFont typeface="Calibri"/>
              <a:buAutoNum type="arabicPeriod"/>
            </a:pPr>
            <a:r>
              <a:rPr lang="en-US" sz="2300"/>
              <a:t>Understand the challenges and opportunities of applying DRL to real-world problems &amp; model real life problems</a:t>
            </a:r>
            <a:endParaRPr sz="2300"/>
          </a:p>
          <a:p>
            <a:pPr indent="0" lvl="0" marL="0" rtl="0" algn="l">
              <a:lnSpc>
                <a:spcPct val="100000"/>
              </a:lnSpc>
              <a:spcBef>
                <a:spcPts val="1000"/>
              </a:spcBef>
              <a:spcAft>
                <a:spcPts val="0"/>
              </a:spcAft>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16799cd9c8_0_7"/>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Course Operation</a:t>
            </a:r>
            <a:endParaRPr/>
          </a:p>
        </p:txBody>
      </p:sp>
      <p:sp>
        <p:nvSpPr>
          <p:cNvPr id="217" name="Google Shape;217;g316799cd9c8_0_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18" name="Google Shape;218;g316799cd9c8_0_7"/>
          <p:cNvSpPr txBox="1"/>
          <p:nvPr>
            <p:ph idx="1" type="body"/>
          </p:nvPr>
        </p:nvSpPr>
        <p:spPr>
          <a:xfrm>
            <a:off x="302725" y="1924675"/>
            <a:ext cx="11442000" cy="464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SzPts val="2800"/>
              <a:buNone/>
            </a:pPr>
            <a:r>
              <a:t/>
            </a:r>
            <a:endParaRPr sz="2300"/>
          </a:p>
          <a:p>
            <a:pPr indent="-374650" lvl="0" marL="457200" rtl="0" algn="l">
              <a:lnSpc>
                <a:spcPct val="100000"/>
              </a:lnSpc>
              <a:spcBef>
                <a:spcPts val="1000"/>
              </a:spcBef>
              <a:spcAft>
                <a:spcPts val="0"/>
              </a:spcAft>
              <a:buSzPts val="2300"/>
              <a:buFont typeface="Calibri"/>
              <a:buChar char="•"/>
            </a:pPr>
            <a:r>
              <a:rPr b="1" lang="en-US" sz="2300"/>
              <a:t>Textbooks</a:t>
            </a:r>
            <a:endParaRPr b="1" sz="2300"/>
          </a:p>
          <a:p>
            <a:pPr indent="-374647" lvl="0" marL="1371600" rtl="0" algn="l">
              <a:lnSpc>
                <a:spcPct val="100000"/>
              </a:lnSpc>
              <a:spcBef>
                <a:spcPts val="0"/>
              </a:spcBef>
              <a:spcAft>
                <a:spcPts val="0"/>
              </a:spcAft>
              <a:buSzPts val="2300"/>
              <a:buFont typeface="Calibri"/>
              <a:buAutoNum type="arabicPeriod"/>
            </a:pPr>
            <a:r>
              <a:rPr lang="en-US" sz="2300"/>
              <a:t>Reinforcement Learning: An Introduction, Richard S. Sutton and Andrew G. Barto, Second Ed. , MIT Press</a:t>
            </a:r>
            <a:endParaRPr sz="2300"/>
          </a:p>
          <a:p>
            <a:pPr indent="0" lvl="0" marL="457200" rtl="0" algn="just">
              <a:lnSpc>
                <a:spcPct val="115000"/>
              </a:lnSpc>
              <a:spcBef>
                <a:spcPts val="0"/>
              </a:spcBef>
              <a:spcAft>
                <a:spcPts val="0"/>
              </a:spcAft>
              <a:buSzPts val="2800"/>
              <a:buNone/>
            </a:pPr>
            <a:r>
              <a:t/>
            </a:r>
            <a:endParaRPr sz="2100"/>
          </a:p>
          <a:p>
            <a:pPr indent="0" lvl="0" marL="457200" rtl="0" algn="l">
              <a:lnSpc>
                <a:spcPct val="100000"/>
              </a:lnSpc>
              <a:spcBef>
                <a:spcPts val="1000"/>
              </a:spcBef>
              <a:spcAft>
                <a:spcPts val="0"/>
              </a:spcAft>
              <a:buSzPts val="4000"/>
              <a:buNone/>
            </a:pPr>
            <a:r>
              <a:t/>
            </a:r>
            <a:endParaRPr sz="2100"/>
          </a:p>
          <a:p>
            <a:pPr indent="0" lvl="0" marL="457200" rtl="0" algn="l">
              <a:lnSpc>
                <a:spcPct val="100000"/>
              </a:lnSpc>
              <a:spcBef>
                <a:spcPts val="1000"/>
              </a:spcBef>
              <a:spcAft>
                <a:spcPts val="0"/>
              </a:spcAft>
              <a:buSzPts val="4000"/>
              <a:buNone/>
            </a:pPr>
            <a:r>
              <a:t/>
            </a:r>
            <a:endParaRPr sz="2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244ec1b14fb_0_18"/>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a:t>Course Operation</a:t>
            </a:r>
            <a:endParaRPr/>
          </a:p>
        </p:txBody>
      </p:sp>
      <p:sp>
        <p:nvSpPr>
          <p:cNvPr id="225" name="Google Shape;225;g244ec1b14fb_0_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26" name="Google Shape;226;g244ec1b14fb_0_18"/>
          <p:cNvSpPr txBox="1"/>
          <p:nvPr>
            <p:ph idx="1" type="body"/>
          </p:nvPr>
        </p:nvSpPr>
        <p:spPr>
          <a:xfrm>
            <a:off x="838200" y="1402075"/>
            <a:ext cx="10802100" cy="5056200"/>
          </a:xfrm>
          <a:prstGeom prst="rect">
            <a:avLst/>
          </a:prstGeom>
          <a:noFill/>
          <a:ln>
            <a:noFill/>
          </a:ln>
        </p:spPr>
        <p:txBody>
          <a:bodyPr anchorCtr="0" anchor="t" bIns="45700" lIns="91425" spcFirstLastPara="1" rIns="91425" wrap="square" tIns="45700">
            <a:normAutofit fontScale="92500" lnSpcReduction="10000"/>
          </a:bodyPr>
          <a:lstStyle/>
          <a:p>
            <a:pPr indent="-374742" lvl="0" marL="457200" rtl="0" algn="l">
              <a:lnSpc>
                <a:spcPct val="100000"/>
              </a:lnSpc>
              <a:spcBef>
                <a:spcPts val="1000"/>
              </a:spcBef>
              <a:spcAft>
                <a:spcPts val="0"/>
              </a:spcAft>
              <a:buSzPct val="100000"/>
              <a:buFont typeface="Calibri"/>
              <a:buChar char="•"/>
            </a:pPr>
            <a:r>
              <a:rPr b="1" lang="en-US" sz="2300"/>
              <a:t>Evaluation </a:t>
            </a:r>
            <a:endParaRPr b="1" sz="2300"/>
          </a:p>
          <a:p>
            <a:pPr indent="0" lvl="0" marL="457200" rtl="0" algn="l">
              <a:lnSpc>
                <a:spcPct val="100000"/>
              </a:lnSpc>
              <a:spcBef>
                <a:spcPts val="1000"/>
              </a:spcBef>
              <a:spcAft>
                <a:spcPts val="0"/>
              </a:spcAft>
              <a:buClr>
                <a:schemeClr val="dk1"/>
              </a:buClr>
              <a:buSzPct val="173912"/>
              <a:buFont typeface="Arial"/>
              <a:buNone/>
            </a:pPr>
            <a:r>
              <a:rPr lang="en-US" sz="2300"/>
              <a:t>	</a:t>
            </a:r>
            <a:r>
              <a:rPr b="1" lang="en-US" sz="2300"/>
              <a:t>Two Quizzes for 5% each</a:t>
            </a:r>
            <a:r>
              <a:rPr lang="en-US" sz="2300"/>
              <a:t>; </a:t>
            </a:r>
            <a:r>
              <a:rPr b="1" lang="en-US" sz="2300"/>
              <a:t>Best of two will be taken for 5%</a:t>
            </a:r>
            <a:r>
              <a:rPr lang="en-US" sz="2300"/>
              <a:t> ( in final grading); </a:t>
            </a:r>
            <a:endParaRPr sz="2300"/>
          </a:p>
          <a:p>
            <a:pPr indent="457200" lvl="0" marL="1371600" rtl="0" algn="l">
              <a:lnSpc>
                <a:spcPct val="100000"/>
              </a:lnSpc>
              <a:spcBef>
                <a:spcPts val="1000"/>
              </a:spcBef>
              <a:spcAft>
                <a:spcPts val="0"/>
              </a:spcAft>
              <a:buClr>
                <a:schemeClr val="dk1"/>
              </a:buClr>
              <a:buSzPct val="173912"/>
              <a:buFont typeface="Arial"/>
              <a:buNone/>
            </a:pPr>
            <a:r>
              <a:rPr lang="en-US" sz="2300"/>
              <a:t>Whatever be the points set for quizzes, the score will be scaled to 5% </a:t>
            </a:r>
            <a:endParaRPr sz="2300"/>
          </a:p>
          <a:p>
            <a:pPr indent="457200" lvl="0" marL="1371600" rtl="0" algn="l">
              <a:lnSpc>
                <a:spcPct val="100000"/>
              </a:lnSpc>
              <a:spcBef>
                <a:spcPts val="1000"/>
              </a:spcBef>
              <a:spcAft>
                <a:spcPts val="0"/>
              </a:spcAft>
              <a:buClr>
                <a:schemeClr val="dk1"/>
              </a:buClr>
              <a:buSzPct val="173912"/>
              <a:buFont typeface="Arial"/>
              <a:buNone/>
            </a:pPr>
            <a:r>
              <a:rPr lang="en-US" sz="2300"/>
              <a:t>NO MAKEUP, for whatever be the reason. Ensure to attend at least one of the quizzes. </a:t>
            </a:r>
            <a:endParaRPr sz="2300"/>
          </a:p>
          <a:p>
            <a:pPr indent="0" lvl="0" marL="457200" rtl="0" algn="l">
              <a:lnSpc>
                <a:spcPct val="100000"/>
              </a:lnSpc>
              <a:spcBef>
                <a:spcPts val="1000"/>
              </a:spcBef>
              <a:spcAft>
                <a:spcPts val="0"/>
              </a:spcAft>
              <a:buClr>
                <a:schemeClr val="dk1"/>
              </a:buClr>
              <a:buSzPct val="173912"/>
              <a:buFont typeface="Arial"/>
              <a:buNone/>
            </a:pPr>
            <a:r>
              <a:rPr lang="en-US" sz="2300"/>
              <a:t>	</a:t>
            </a:r>
            <a:r>
              <a:rPr b="1" lang="en-US" sz="2300"/>
              <a:t>Two  Assignments</a:t>
            </a:r>
            <a:r>
              <a:rPr lang="en-US" sz="2300"/>
              <a:t> - Tensorflow/ Pytorch / OpenAI Gym Toolkit → 25 % </a:t>
            </a:r>
            <a:endParaRPr sz="2300"/>
          </a:p>
          <a:p>
            <a:pPr indent="0" lvl="0" marL="457200" rtl="0" algn="l">
              <a:lnSpc>
                <a:spcPct val="100000"/>
              </a:lnSpc>
              <a:spcBef>
                <a:spcPts val="1000"/>
              </a:spcBef>
              <a:spcAft>
                <a:spcPts val="0"/>
              </a:spcAft>
              <a:buClr>
                <a:schemeClr val="dk1"/>
              </a:buClr>
              <a:buSzPct val="173912"/>
              <a:buFont typeface="Arial"/>
              <a:buNone/>
            </a:pPr>
            <a:r>
              <a:rPr lang="en-US" sz="2300"/>
              <a:t>			Assignment 1: Partially Numerical + Implementation of Classic Algorithms - 10%</a:t>
            </a:r>
            <a:endParaRPr sz="2300"/>
          </a:p>
          <a:p>
            <a:pPr indent="0" lvl="0" marL="457200" rtl="0" algn="l">
              <a:lnSpc>
                <a:spcPct val="100000"/>
              </a:lnSpc>
              <a:spcBef>
                <a:spcPts val="1000"/>
              </a:spcBef>
              <a:spcAft>
                <a:spcPts val="0"/>
              </a:spcAft>
              <a:buClr>
                <a:schemeClr val="dk1"/>
              </a:buClr>
              <a:buSzPct val="173912"/>
              <a:buFont typeface="Arial"/>
              <a:buNone/>
            </a:pPr>
            <a:r>
              <a:rPr lang="en-US" sz="2300"/>
              <a:t>			Assignment 2: Deep Learning based RL 							             - 15%</a:t>
            </a:r>
            <a:endParaRPr sz="2300"/>
          </a:p>
          <a:p>
            <a:pPr indent="0" lvl="0" marL="457200" rtl="0" algn="l">
              <a:lnSpc>
                <a:spcPct val="100000"/>
              </a:lnSpc>
              <a:spcBef>
                <a:spcPts val="1000"/>
              </a:spcBef>
              <a:spcAft>
                <a:spcPts val="0"/>
              </a:spcAft>
              <a:buClr>
                <a:schemeClr val="dk1"/>
              </a:buClr>
              <a:buSzPct val="173912"/>
              <a:buFont typeface="Arial"/>
              <a:buNone/>
            </a:pPr>
            <a:r>
              <a:rPr lang="en-US" sz="2300"/>
              <a:t>	Mid-Term Exam 		- 30%  [ Only to be written in A4 pages, scanned and uploaded] </a:t>
            </a:r>
            <a:endParaRPr sz="2300"/>
          </a:p>
          <a:p>
            <a:pPr indent="0" lvl="0" marL="457200" rtl="0" algn="l">
              <a:lnSpc>
                <a:spcPct val="100000"/>
              </a:lnSpc>
              <a:spcBef>
                <a:spcPts val="1000"/>
              </a:spcBef>
              <a:spcAft>
                <a:spcPts val="0"/>
              </a:spcAft>
              <a:buSzPct val="121738"/>
              <a:buNone/>
            </a:pPr>
            <a:r>
              <a:rPr lang="en-US" sz="2300"/>
              <a:t>	Comprehensive Exam 	- 40%  [ Only to be written in A4 pages, scanned and uploaded] </a:t>
            </a:r>
            <a:endParaRPr sz="2300"/>
          </a:p>
          <a:p>
            <a:pPr indent="-374742" lvl="0" marL="457200" rtl="0" algn="l">
              <a:lnSpc>
                <a:spcPct val="100000"/>
              </a:lnSpc>
              <a:spcBef>
                <a:spcPts val="1000"/>
              </a:spcBef>
              <a:spcAft>
                <a:spcPts val="0"/>
              </a:spcAft>
              <a:buSzPct val="100000"/>
              <a:buChar char="•"/>
            </a:pPr>
            <a:r>
              <a:rPr b="1" lang="en-US" sz="2300"/>
              <a:t>Webinars/Tutorials </a:t>
            </a:r>
            <a:endParaRPr b="1" sz="2300"/>
          </a:p>
          <a:p>
            <a:pPr indent="0" lvl="0" marL="457200" rtl="0" algn="l">
              <a:lnSpc>
                <a:spcPct val="100000"/>
              </a:lnSpc>
              <a:spcBef>
                <a:spcPts val="1000"/>
              </a:spcBef>
              <a:spcAft>
                <a:spcPts val="0"/>
              </a:spcAft>
              <a:buSzPct val="121737"/>
              <a:buNone/>
            </a:pPr>
            <a:r>
              <a:rPr lang="en-US" sz="2300"/>
              <a:t>        4 tutorials  : 2 before mid-sem &amp; 2 after mid-sem</a:t>
            </a:r>
            <a:endParaRPr sz="2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262346938f7_0_0"/>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a:t>Course Operation</a:t>
            </a:r>
            <a:endParaRPr/>
          </a:p>
        </p:txBody>
      </p:sp>
      <p:sp>
        <p:nvSpPr>
          <p:cNvPr id="233" name="Google Shape;233;g262346938f7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34" name="Google Shape;234;g262346938f7_0_0"/>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12700" rtl="0" algn="l">
              <a:lnSpc>
                <a:spcPct val="115000"/>
              </a:lnSpc>
              <a:spcBef>
                <a:spcPts val="1000"/>
              </a:spcBef>
              <a:spcAft>
                <a:spcPts val="0"/>
              </a:spcAft>
              <a:buClr>
                <a:schemeClr val="dk1"/>
              </a:buClr>
              <a:buSzPts val="1100"/>
              <a:buFont typeface="Arial"/>
              <a:buNone/>
            </a:pPr>
            <a:r>
              <a:rPr lang="en-US">
                <a:latin typeface="Arial"/>
                <a:ea typeface="Arial"/>
                <a:cs typeface="Arial"/>
                <a:sym typeface="Arial"/>
              </a:rPr>
              <a:t>•</a:t>
            </a:r>
            <a:r>
              <a:rPr lang="en-US"/>
              <a:t>Schedule of Schedule of Quizzes</a:t>
            </a:r>
            <a:endParaRPr/>
          </a:p>
          <a:p>
            <a:pPr indent="0" lvl="0" marL="12700" rtl="0" algn="l">
              <a:lnSpc>
                <a:spcPct val="115000"/>
              </a:lnSpc>
              <a:spcBef>
                <a:spcPts val="1000"/>
              </a:spcBef>
              <a:spcAft>
                <a:spcPts val="0"/>
              </a:spcAft>
              <a:buClr>
                <a:schemeClr val="dk1"/>
              </a:buClr>
              <a:buSzPts val="1100"/>
              <a:buFont typeface="Arial"/>
              <a:buNone/>
            </a:pPr>
            <a:r>
              <a:rPr lang="en-US">
                <a:highlight>
                  <a:srgbClr val="FFFF00"/>
                </a:highlight>
              </a:rPr>
              <a:t>	See the announcements for details</a:t>
            </a:r>
            <a:endParaRPr>
              <a:highlight>
                <a:srgbClr val="FFFF00"/>
              </a:highlight>
            </a:endParaRPr>
          </a:p>
          <a:p>
            <a:pPr indent="0" lvl="0" marL="12700" rtl="0" algn="l">
              <a:lnSpc>
                <a:spcPct val="115000"/>
              </a:lnSpc>
              <a:spcBef>
                <a:spcPts val="1000"/>
              </a:spcBef>
              <a:spcAft>
                <a:spcPts val="0"/>
              </a:spcAft>
              <a:buClr>
                <a:schemeClr val="dk1"/>
              </a:buClr>
              <a:buSzPts val="1100"/>
              <a:buFont typeface="Arial"/>
              <a:buNone/>
            </a:pPr>
            <a:r>
              <a:rPr lang="en-US">
                <a:latin typeface="Arial"/>
                <a:ea typeface="Arial"/>
                <a:cs typeface="Arial"/>
                <a:sym typeface="Arial"/>
              </a:rPr>
              <a:t>•</a:t>
            </a:r>
            <a:r>
              <a:rPr lang="en-US"/>
              <a:t>Schedule of Assignments</a:t>
            </a:r>
            <a:endParaRPr/>
          </a:p>
          <a:p>
            <a:pPr indent="444500" lvl="0" marL="12700" rtl="0" algn="l">
              <a:lnSpc>
                <a:spcPct val="115000"/>
              </a:lnSpc>
              <a:spcBef>
                <a:spcPts val="1000"/>
              </a:spcBef>
              <a:spcAft>
                <a:spcPts val="0"/>
              </a:spcAft>
              <a:buClr>
                <a:schemeClr val="dk1"/>
              </a:buClr>
              <a:buSzPts val="1100"/>
              <a:buFont typeface="Arial"/>
              <a:buNone/>
            </a:pPr>
            <a:r>
              <a:rPr lang="en-US">
                <a:highlight>
                  <a:srgbClr val="FFFF00"/>
                </a:highlight>
              </a:rPr>
              <a:t>See the announcements for details</a:t>
            </a:r>
            <a:endParaRPr sz="2400">
              <a:solidFill>
                <a:srgbClr val="888888"/>
              </a:solidFill>
            </a:endParaRPr>
          </a:p>
          <a:p>
            <a:pPr indent="0" lvl="0" marL="12700" rtl="0" algn="l">
              <a:lnSpc>
                <a:spcPct val="115000"/>
              </a:lnSpc>
              <a:spcBef>
                <a:spcPts val="1000"/>
              </a:spcBef>
              <a:spcAft>
                <a:spcPts val="0"/>
              </a:spcAft>
              <a:buSzPts val="3027"/>
              <a:buNone/>
            </a:pPr>
            <a:r>
              <a:rPr lang="en-US">
                <a:latin typeface="Arial"/>
                <a:ea typeface="Arial"/>
                <a:cs typeface="Arial"/>
                <a:sym typeface="Arial"/>
              </a:rPr>
              <a:t>•</a:t>
            </a:r>
            <a:r>
              <a:rPr lang="en-US"/>
              <a:t>Schedule of Webinars</a:t>
            </a:r>
            <a:endParaRPr/>
          </a:p>
          <a:p>
            <a:pPr indent="0" lvl="0" marL="12700" rtl="0" algn="l">
              <a:lnSpc>
                <a:spcPct val="115000"/>
              </a:lnSpc>
              <a:spcBef>
                <a:spcPts val="1000"/>
              </a:spcBef>
              <a:spcAft>
                <a:spcPts val="0"/>
              </a:spcAft>
              <a:buClr>
                <a:schemeClr val="dk1"/>
              </a:buClr>
              <a:buSzPts val="1100"/>
              <a:buFont typeface="Arial"/>
              <a:buNone/>
            </a:pPr>
            <a:r>
              <a:rPr lang="en-US"/>
              <a:t>	</a:t>
            </a:r>
            <a:r>
              <a:rPr lang="en-US">
                <a:highlight>
                  <a:srgbClr val="FFFF00"/>
                </a:highlight>
              </a:rPr>
              <a:t>See the announcements for details</a:t>
            </a:r>
            <a:endParaRPr/>
          </a:p>
          <a:p>
            <a:pPr indent="0" lvl="0" marL="457200" rtl="0" algn="l">
              <a:lnSpc>
                <a:spcPct val="100000"/>
              </a:lnSpc>
              <a:spcBef>
                <a:spcPts val="1000"/>
              </a:spcBef>
              <a:spcAft>
                <a:spcPts val="0"/>
              </a:spcAft>
              <a:buSzPts val="3027"/>
              <a:buNone/>
            </a:pPr>
            <a:r>
              <a:t/>
            </a:r>
            <a:endParaRPr sz="2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244ec1b14fb_0_25"/>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a:t>Course Operation</a:t>
            </a:r>
            <a:endParaRPr/>
          </a:p>
        </p:txBody>
      </p:sp>
      <p:sp>
        <p:nvSpPr>
          <p:cNvPr id="241" name="Google Shape;241;g244ec1b14fb_0_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42" name="Google Shape;242;g244ec1b14fb_0_25"/>
          <p:cNvSpPr txBox="1"/>
          <p:nvPr>
            <p:ph idx="1" type="body"/>
          </p:nvPr>
        </p:nvSpPr>
        <p:spPr>
          <a:xfrm>
            <a:off x="838200" y="1479175"/>
            <a:ext cx="10515600" cy="5055900"/>
          </a:xfrm>
          <a:prstGeom prst="rect">
            <a:avLst/>
          </a:prstGeom>
          <a:noFill/>
          <a:ln>
            <a:noFill/>
          </a:ln>
        </p:spPr>
        <p:txBody>
          <a:bodyPr anchorCtr="0" anchor="t" bIns="45700" lIns="91425" spcFirstLastPara="1" rIns="91425" wrap="square" tIns="45700">
            <a:normAutofit fontScale="92500"/>
          </a:bodyPr>
          <a:lstStyle/>
          <a:p>
            <a:pPr indent="-420815" lvl="0" marL="457200" rtl="0" algn="l">
              <a:lnSpc>
                <a:spcPct val="100000"/>
              </a:lnSpc>
              <a:spcBef>
                <a:spcPts val="1000"/>
              </a:spcBef>
              <a:spcAft>
                <a:spcPts val="0"/>
              </a:spcAft>
              <a:buSzPct val="163621"/>
              <a:buChar char="•"/>
            </a:pPr>
            <a:r>
              <a:rPr lang="en-US"/>
              <a:t>How to reach us ? </a:t>
            </a:r>
            <a:r>
              <a:rPr lang="en-US" sz="2000"/>
              <a:t>(for any question on lab aspects, availability of slides on portal, quiz availability , assignment operations )</a:t>
            </a:r>
            <a:endParaRPr sz="2000"/>
          </a:p>
          <a:p>
            <a:pPr indent="444500" lvl="0" marL="927100" rtl="0" algn="l">
              <a:lnSpc>
                <a:spcPct val="115000"/>
              </a:lnSpc>
              <a:spcBef>
                <a:spcPts val="1000"/>
              </a:spcBef>
              <a:spcAft>
                <a:spcPts val="0"/>
              </a:spcAft>
              <a:buSzPct val="137592"/>
              <a:buNone/>
            </a:pPr>
            <a:r>
              <a:rPr lang="en-US">
                <a:highlight>
                  <a:srgbClr val="FFFF00"/>
                </a:highlight>
              </a:rPr>
              <a:t>See the announcements for details</a:t>
            </a:r>
            <a:endParaRPr sz="2200"/>
          </a:p>
          <a:p>
            <a:pPr indent="-431456" lvl="0" marL="457200" rtl="0" algn="l">
              <a:lnSpc>
                <a:spcPct val="100000"/>
              </a:lnSpc>
              <a:spcBef>
                <a:spcPts val="1000"/>
              </a:spcBef>
              <a:spcAft>
                <a:spcPts val="0"/>
              </a:spcAft>
              <a:buSzPct val="115135"/>
              <a:buChar char="•"/>
            </a:pPr>
            <a:r>
              <a:rPr b="1" lang="en-US" sz="3000"/>
              <a:t>Plagiarism  [ Important ] </a:t>
            </a:r>
            <a:endParaRPr b="1" sz="3000"/>
          </a:p>
          <a:p>
            <a:pPr indent="-1219" lvl="0" marL="534009" marR="630614" rtl="0" algn="just">
              <a:lnSpc>
                <a:spcPct val="97657"/>
              </a:lnSpc>
              <a:spcBef>
                <a:spcPts val="2130"/>
              </a:spcBef>
              <a:spcAft>
                <a:spcPts val="0"/>
              </a:spcAft>
              <a:buSzPct val="169292"/>
              <a:buNone/>
            </a:pPr>
            <a:r>
              <a:rPr lang="en-US" sz="1933">
                <a:latin typeface="Cambria"/>
                <a:ea typeface="Cambria"/>
                <a:cs typeface="Cambria"/>
                <a:sym typeface="Cambria"/>
              </a:rPr>
              <a:t>All submissions for graded components must be the result of your original effort. It is strictly prohibited to copy and paste verbatim from any sources, whether online or from your peers. The use of unauthorized sources or materials, as well as collusion or unauthorized collaboration to gain an unfair advantage, is also strictly prohibited. Please note that we will not distinguish between the person sharing their resources and the one receiving them for plagiarism, and the consequences will apply to both parties equally. </a:t>
            </a:r>
            <a:endParaRPr sz="1933">
              <a:latin typeface="Cambria"/>
              <a:ea typeface="Cambria"/>
              <a:cs typeface="Cambria"/>
              <a:sym typeface="Cambria"/>
            </a:endParaRPr>
          </a:p>
          <a:p>
            <a:pPr indent="-1219" lvl="0" marL="534009" marR="630614" rtl="0" algn="just">
              <a:lnSpc>
                <a:spcPct val="97657"/>
              </a:lnSpc>
              <a:spcBef>
                <a:spcPts val="0"/>
              </a:spcBef>
              <a:spcAft>
                <a:spcPts val="0"/>
              </a:spcAft>
              <a:buSzPct val="169292"/>
              <a:buNone/>
            </a:pPr>
            <a:r>
              <a:rPr lang="en-US" sz="1933">
                <a:latin typeface="Cambria"/>
                <a:ea typeface="Cambria"/>
                <a:cs typeface="Cambria"/>
                <a:sym typeface="Cambria"/>
              </a:rPr>
              <a:t>In cases where suspicious circumstances arise, such as identical verbatim answers or a significant overlap of unreasonable similarities in a set of submissions, will be investigated, and severe punishments will be imposed on all those found guilty of plagiarism.</a:t>
            </a:r>
            <a:endParaRPr sz="2733"/>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244ec1b14fb_0_32"/>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Reinforcement Learning</a:t>
            </a:r>
            <a:endParaRPr/>
          </a:p>
        </p:txBody>
      </p:sp>
      <p:sp>
        <p:nvSpPr>
          <p:cNvPr id="249" name="Google Shape;249;g244ec1b14fb_0_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50" name="Google Shape;250;g244ec1b14fb_0_32"/>
          <p:cNvSpPr txBox="1"/>
          <p:nvPr>
            <p:ph idx="1" type="body"/>
          </p:nvPr>
        </p:nvSpPr>
        <p:spPr>
          <a:xfrm>
            <a:off x="554700" y="1894125"/>
            <a:ext cx="11127300" cy="41802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1000"/>
              </a:spcBef>
              <a:spcAft>
                <a:spcPts val="0"/>
              </a:spcAft>
              <a:buSzPct val="123349"/>
              <a:buNone/>
            </a:pPr>
            <a:r>
              <a:rPr b="1" i="1" lang="en-US" sz="2929"/>
              <a:t>Reinforcement learning (RL) is based on rewarding desired behaviors or punishing undesired ones. Instead of one input producing one output, the algorithm produces a variety of outputs and is trained to select the right one based on certain variables – Gartner</a:t>
            </a:r>
            <a:endParaRPr b="1" i="1" sz="2929"/>
          </a:p>
          <a:p>
            <a:pPr indent="0" lvl="0" marL="0" rtl="0" algn="l">
              <a:lnSpc>
                <a:spcPct val="115000"/>
              </a:lnSpc>
              <a:spcBef>
                <a:spcPts val="0"/>
              </a:spcBef>
              <a:spcAft>
                <a:spcPts val="0"/>
              </a:spcAft>
              <a:buSzPct val="84848"/>
              <a:buNone/>
            </a:pPr>
            <a:r>
              <a:t/>
            </a:r>
            <a:endParaRPr sz="4258">
              <a:solidFill>
                <a:srgbClr val="273239"/>
              </a:solidFill>
            </a:endParaRPr>
          </a:p>
          <a:p>
            <a:pPr indent="0" lvl="0" marL="0" rtl="0" algn="l">
              <a:lnSpc>
                <a:spcPct val="115000"/>
              </a:lnSpc>
              <a:spcBef>
                <a:spcPts val="0"/>
              </a:spcBef>
              <a:spcAft>
                <a:spcPts val="0"/>
              </a:spcAft>
              <a:buSzPct val="84848"/>
              <a:buNone/>
            </a:pPr>
            <a:r>
              <a:rPr lang="en-US" sz="4258">
                <a:solidFill>
                  <a:srgbClr val="273239"/>
                </a:solidFill>
              </a:rPr>
              <a:t>When to use RL?</a:t>
            </a:r>
            <a:endParaRPr sz="4258">
              <a:solidFill>
                <a:srgbClr val="273239"/>
              </a:solidFill>
            </a:endParaRPr>
          </a:p>
          <a:p>
            <a:pPr indent="0" lvl="0" marL="0" rtl="0" algn="l">
              <a:lnSpc>
                <a:spcPct val="115000"/>
              </a:lnSpc>
              <a:spcBef>
                <a:spcPts val="0"/>
              </a:spcBef>
              <a:spcAft>
                <a:spcPts val="0"/>
              </a:spcAft>
              <a:buSzPct val="123898"/>
              <a:buNone/>
            </a:pPr>
            <a:r>
              <a:rPr lang="en-US" sz="2916">
                <a:solidFill>
                  <a:srgbClr val="273239"/>
                </a:solidFill>
              </a:rPr>
              <a:t>RL can be used in large environments in the following situations: </a:t>
            </a:r>
            <a:br>
              <a:rPr lang="en-US" sz="2916">
                <a:solidFill>
                  <a:srgbClr val="273239"/>
                </a:solidFill>
              </a:rPr>
            </a:br>
            <a:r>
              <a:rPr lang="en-US" sz="2916">
                <a:solidFill>
                  <a:srgbClr val="273239"/>
                </a:solidFill>
              </a:rPr>
              <a:t>  </a:t>
            </a:r>
            <a:endParaRPr sz="2916">
              <a:solidFill>
                <a:srgbClr val="273239"/>
              </a:solidFill>
            </a:endParaRPr>
          </a:p>
          <a:p>
            <a:pPr indent="0" lvl="0" marL="0" rtl="0" algn="l">
              <a:lnSpc>
                <a:spcPct val="115000"/>
              </a:lnSpc>
              <a:spcBef>
                <a:spcPts val="0"/>
              </a:spcBef>
              <a:spcAft>
                <a:spcPts val="0"/>
              </a:spcAft>
              <a:buSzPct val="123898"/>
              <a:buNone/>
            </a:pPr>
            <a:r>
              <a:rPr lang="en-US" sz="2916"/>
              <a:t>1.</a:t>
            </a:r>
            <a:r>
              <a:rPr lang="en-US" sz="2916">
                <a:solidFill>
                  <a:srgbClr val="273239"/>
                </a:solidFill>
              </a:rPr>
              <a:t>A model of the environment is known, but an analytic solution is not available;</a:t>
            </a:r>
            <a:endParaRPr sz="2916">
              <a:solidFill>
                <a:srgbClr val="273239"/>
              </a:solidFill>
            </a:endParaRPr>
          </a:p>
          <a:p>
            <a:pPr indent="0" lvl="0" marL="0" rtl="0" algn="l">
              <a:lnSpc>
                <a:spcPct val="115000"/>
              </a:lnSpc>
              <a:spcBef>
                <a:spcPts val="0"/>
              </a:spcBef>
              <a:spcAft>
                <a:spcPts val="0"/>
              </a:spcAft>
              <a:buSzPct val="123898"/>
              <a:buNone/>
            </a:pPr>
            <a:r>
              <a:rPr lang="en-US" sz="2916"/>
              <a:t>2.</a:t>
            </a:r>
            <a:r>
              <a:rPr lang="en-US" sz="2916">
                <a:solidFill>
                  <a:srgbClr val="273239"/>
                </a:solidFill>
              </a:rPr>
              <a:t>Only a simulation model of the environment is given (the subject of simulation-based optimization)</a:t>
            </a:r>
            <a:endParaRPr sz="2916">
              <a:solidFill>
                <a:srgbClr val="273239"/>
              </a:solidFill>
            </a:endParaRPr>
          </a:p>
          <a:p>
            <a:pPr indent="0" lvl="0" marL="0" rtl="0" algn="l">
              <a:lnSpc>
                <a:spcPct val="115000"/>
              </a:lnSpc>
              <a:spcBef>
                <a:spcPts val="0"/>
              </a:spcBef>
              <a:spcAft>
                <a:spcPts val="0"/>
              </a:spcAft>
              <a:buSzPct val="123898"/>
              <a:buNone/>
            </a:pPr>
            <a:r>
              <a:rPr lang="en-US" sz="2916"/>
              <a:t>3.</a:t>
            </a:r>
            <a:r>
              <a:rPr lang="en-US" sz="2916">
                <a:solidFill>
                  <a:srgbClr val="273239"/>
                </a:solidFill>
              </a:rPr>
              <a:t>The only way to collect information about the environment is to interact with it.</a:t>
            </a:r>
            <a:endParaRPr sz="3058"/>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
          <p:cNvSpPr txBox="1"/>
          <p:nvPr>
            <p:ph type="title"/>
          </p:nvPr>
        </p:nvSpPr>
        <p:spPr>
          <a:xfrm>
            <a:off x="838200" y="365125"/>
            <a:ext cx="10515599" cy="10263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(Deep) Reinforcement Learning</a:t>
            </a:r>
            <a:endParaRPr/>
          </a:p>
        </p:txBody>
      </p:sp>
      <p:sp>
        <p:nvSpPr>
          <p:cNvPr id="256" name="Google Shape;25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pic>
        <p:nvPicPr>
          <p:cNvPr id="257" name="Google Shape;257;p3"/>
          <p:cNvPicPr preferRelativeResize="0"/>
          <p:nvPr/>
        </p:nvPicPr>
        <p:blipFill rotWithShape="1">
          <a:blip r:embed="rId3">
            <a:alphaModFix/>
          </a:blip>
          <a:srcRect b="0" l="0" r="0" t="0"/>
          <a:stretch/>
        </p:blipFill>
        <p:spPr>
          <a:xfrm>
            <a:off x="838207" y="1391484"/>
            <a:ext cx="10182000" cy="5010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244ec1b14fb_0_41"/>
          <p:cNvSpPr txBox="1"/>
          <p:nvPr>
            <p:ph type="title"/>
          </p:nvPr>
        </p:nvSpPr>
        <p:spPr>
          <a:xfrm rot="-5400000">
            <a:off x="-2129050" y="3381800"/>
            <a:ext cx="5826900" cy="60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SzPct val="111111"/>
              <a:buNone/>
            </a:pPr>
            <a:r>
              <a:rPr lang="en-US"/>
              <a:t>Types of Learning</a:t>
            </a:r>
            <a:endParaRPr/>
          </a:p>
        </p:txBody>
      </p:sp>
      <p:sp>
        <p:nvSpPr>
          <p:cNvPr id="264" name="Google Shape;264;g244ec1b14fb_0_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graphicFrame>
        <p:nvGraphicFramePr>
          <p:cNvPr id="265" name="Google Shape;265;g244ec1b14fb_0_41"/>
          <p:cNvGraphicFramePr/>
          <p:nvPr/>
        </p:nvGraphicFramePr>
        <p:xfrm>
          <a:off x="1225900" y="121950"/>
          <a:ext cx="3000000" cy="3000000"/>
        </p:xfrm>
        <a:graphic>
          <a:graphicData uri="http://schemas.openxmlformats.org/drawingml/2006/table">
            <a:tbl>
              <a:tblPr>
                <a:noFill/>
                <a:tableStyleId>{D0DE12FA-F8BC-4BBA-83A9-9AC5B8FD38D9}</a:tableStyleId>
              </a:tblPr>
              <a:tblGrid>
                <a:gridCol w="2003075"/>
                <a:gridCol w="2993200"/>
                <a:gridCol w="2572975"/>
                <a:gridCol w="3153100"/>
              </a:tblGrid>
              <a:tr h="411750">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Criteria</a:t>
                      </a:r>
                      <a:endParaRPr b="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Supervised ML</a:t>
                      </a:r>
                      <a:endParaRPr b="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Unsupervised ML</a:t>
                      </a:r>
                      <a:endParaRPr b="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Reinforcement ML</a:t>
                      </a:r>
                      <a:endParaRPr b="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53925">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Definition</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Learns by using labelled data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Trained using unlabelled data without any guidance.</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Works on interacting with the environment</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1750">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Type of data</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Labelled data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Unlabelled data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No – predefined data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82850">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Type of problems</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Regression and classification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Association and Clustering</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Exploitation or Exploration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1750">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Supervision</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  Extra supervision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No supervision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No supervision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53925">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Algorithms</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Linear Regression, Logistic Regression, SVM, KNN etc.</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K – Means,</a:t>
                      </a:r>
                      <a:br>
                        <a:rPr lang="en-US" sz="2000" u="none" cap="none" strike="noStrike">
                          <a:latin typeface="Calibri"/>
                          <a:ea typeface="Calibri"/>
                          <a:cs typeface="Calibri"/>
                          <a:sym typeface="Calibri"/>
                        </a:rPr>
                      </a:br>
                      <a:r>
                        <a:rPr lang="en-US" sz="2000" u="none" cap="none" strike="noStrike">
                          <a:latin typeface="Calibri"/>
                          <a:ea typeface="Calibri"/>
                          <a:cs typeface="Calibri"/>
                          <a:sym typeface="Calibri"/>
                        </a:rPr>
                        <a:t> C – Means, Apriori</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Q – Learning,</a:t>
                      </a:r>
                      <a:br>
                        <a:rPr lang="en-US" sz="2000" u="none" cap="none" strike="noStrike">
                          <a:latin typeface="Calibri"/>
                          <a:ea typeface="Calibri"/>
                          <a:cs typeface="Calibri"/>
                          <a:sym typeface="Calibri"/>
                        </a:rPr>
                      </a:br>
                      <a:r>
                        <a:rPr lang="en-US" sz="2000" u="none" cap="none" strike="noStrike">
                          <a:latin typeface="Calibri"/>
                          <a:ea typeface="Calibri"/>
                          <a:cs typeface="Calibri"/>
                          <a:sym typeface="Calibri"/>
                        </a:rPr>
                        <a:t> SARSA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82850">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Aim</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Calculate outcomes</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Discover underlying patterns</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Learn a series of action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53925">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Application</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Risk Evaluation, Forecast Sales</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Recommendation System, Anomaly Detection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Self Driving Cars, Gaming, Healthcare</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244ec1b14fb_0_51"/>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Characteristics of RL</a:t>
            </a:r>
            <a:endParaRPr/>
          </a:p>
        </p:txBody>
      </p:sp>
      <p:sp>
        <p:nvSpPr>
          <p:cNvPr id="272" name="Google Shape;272;g244ec1b14fb_0_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73" name="Google Shape;273;g244ec1b14fb_0_51"/>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a:latin typeface="Arial"/>
                <a:ea typeface="Arial"/>
                <a:cs typeface="Arial"/>
                <a:sym typeface="Arial"/>
              </a:rPr>
              <a:t>•</a:t>
            </a:r>
            <a:r>
              <a:rPr lang="en-US" sz="2400"/>
              <a:t>No supervision, only a real value or reward signal</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lang="en-US" sz="2400"/>
              <a:t>Decision making is sequential</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lang="en-US" sz="2400"/>
              <a:t>Time plays a major role in reinforcement problems</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lang="en-US" sz="2400"/>
              <a:t>Feedback isn’t prompt but delayed</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244ec1b14fb_0_75"/>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Elements of Reinforcement Learning</a:t>
            </a:r>
            <a:endParaRPr/>
          </a:p>
        </p:txBody>
      </p:sp>
      <p:sp>
        <p:nvSpPr>
          <p:cNvPr id="280" name="Google Shape;280;g244ec1b14fb_0_7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281" name="Google Shape;281;g244ec1b14fb_0_75"/>
          <p:cNvPicPr preferRelativeResize="0"/>
          <p:nvPr/>
        </p:nvPicPr>
        <p:blipFill rotWithShape="1">
          <a:blip r:embed="rId3">
            <a:alphaModFix/>
          </a:blip>
          <a:srcRect b="0" l="0" r="0" t="0"/>
          <a:stretch/>
        </p:blipFill>
        <p:spPr>
          <a:xfrm>
            <a:off x="2410775" y="2300175"/>
            <a:ext cx="7370450" cy="2777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244ec1b14fb_0_84"/>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n-US"/>
              <a:t>Elements of Reinforcement Learning</a:t>
            </a:r>
            <a:endParaRPr/>
          </a:p>
          <a:p>
            <a:pPr indent="0" lvl="0" marL="0" rtl="0" algn="ctr">
              <a:lnSpc>
                <a:spcPct val="90000"/>
              </a:lnSpc>
              <a:spcBef>
                <a:spcPts val="0"/>
              </a:spcBef>
              <a:spcAft>
                <a:spcPts val="0"/>
              </a:spcAft>
              <a:buSzPts val="4000"/>
              <a:buNone/>
            </a:pPr>
            <a:r>
              <a:t/>
            </a:r>
            <a:endParaRPr/>
          </a:p>
        </p:txBody>
      </p:sp>
      <p:sp>
        <p:nvSpPr>
          <p:cNvPr id="288" name="Google Shape;288;g244ec1b14fb_0_8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89" name="Google Shape;289;g244ec1b14fb_0_84"/>
          <p:cNvSpPr txBox="1"/>
          <p:nvPr>
            <p:ph idx="1" type="body"/>
          </p:nvPr>
        </p:nvSpPr>
        <p:spPr>
          <a:xfrm>
            <a:off x="1096738" y="4892648"/>
            <a:ext cx="10515600" cy="1463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b="1" lang="en-US" sz="2400"/>
              <a:t>Beyond the agent and the environment, one can identify four main sub-elements of a reinforcement learning system: </a:t>
            </a:r>
            <a:r>
              <a:rPr b="1" i="1" lang="en-US" sz="2400"/>
              <a:t>a policy</a:t>
            </a:r>
            <a:r>
              <a:rPr b="1" lang="en-US" sz="2400"/>
              <a:t>, a </a:t>
            </a:r>
            <a:r>
              <a:rPr b="1" i="1" lang="en-US" sz="2400"/>
              <a:t>reward</a:t>
            </a:r>
            <a:r>
              <a:rPr b="1" lang="en-US" sz="2400"/>
              <a:t> , a </a:t>
            </a:r>
            <a:r>
              <a:rPr b="1" i="1" lang="en-US" sz="2400"/>
              <a:t>value</a:t>
            </a:r>
            <a:r>
              <a:rPr b="1" lang="en-US" sz="2400"/>
              <a:t> function, and, optionally, a </a:t>
            </a:r>
            <a:r>
              <a:rPr b="1" i="1" lang="en-US" sz="2400"/>
              <a:t>model</a:t>
            </a:r>
            <a:r>
              <a:rPr b="1" lang="en-US" sz="2400"/>
              <a:t> of the environment.</a:t>
            </a:r>
            <a:endParaRPr b="1" sz="2400"/>
          </a:p>
          <a:p>
            <a:pPr indent="0" lvl="0" marL="0" rtl="0" algn="l">
              <a:lnSpc>
                <a:spcPct val="100000"/>
              </a:lnSpc>
              <a:spcBef>
                <a:spcPts val="1000"/>
              </a:spcBef>
              <a:spcAft>
                <a:spcPts val="0"/>
              </a:spcAft>
              <a:buSzPts val="2800"/>
              <a:buNone/>
            </a:pPr>
            <a:r>
              <a:t/>
            </a:r>
            <a:endParaRPr/>
          </a:p>
        </p:txBody>
      </p:sp>
      <p:pic>
        <p:nvPicPr>
          <p:cNvPr id="290" name="Google Shape;290;g244ec1b14fb_0_84"/>
          <p:cNvPicPr preferRelativeResize="0"/>
          <p:nvPr/>
        </p:nvPicPr>
        <p:blipFill rotWithShape="1">
          <a:blip r:embed="rId3">
            <a:alphaModFix/>
          </a:blip>
          <a:srcRect b="0" l="0" r="0" t="0"/>
          <a:stretch/>
        </p:blipFill>
        <p:spPr>
          <a:xfrm>
            <a:off x="3128425" y="1345650"/>
            <a:ext cx="6452225" cy="30063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244ec1b14fb_0_91"/>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n-US"/>
              <a:t>Elements of Reinforcement Learning</a:t>
            </a:r>
            <a:endParaRPr/>
          </a:p>
          <a:p>
            <a:pPr indent="0" lvl="0" marL="0" rtl="0" algn="ctr">
              <a:lnSpc>
                <a:spcPct val="90000"/>
              </a:lnSpc>
              <a:spcBef>
                <a:spcPts val="0"/>
              </a:spcBef>
              <a:spcAft>
                <a:spcPts val="0"/>
              </a:spcAft>
              <a:buSzPts val="4000"/>
              <a:buNone/>
            </a:pPr>
            <a:r>
              <a:t/>
            </a:r>
            <a:endParaRPr/>
          </a:p>
        </p:txBody>
      </p:sp>
      <p:sp>
        <p:nvSpPr>
          <p:cNvPr id="297" name="Google Shape;297;g244ec1b14fb_0_9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98" name="Google Shape;298;g244ec1b14fb_0_91"/>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Agent </a:t>
            </a:r>
            <a:endParaRPr b="1" sz="2400"/>
          </a:p>
          <a:p>
            <a:pPr indent="-381000" lvl="0" marL="457200" rtl="0" algn="l">
              <a:lnSpc>
                <a:spcPct val="90000"/>
              </a:lnSpc>
              <a:spcBef>
                <a:spcPts val="1000"/>
              </a:spcBef>
              <a:spcAft>
                <a:spcPts val="0"/>
              </a:spcAft>
              <a:buSzPts val="2400"/>
              <a:buChar char="-"/>
            </a:pPr>
            <a:r>
              <a:rPr lang="en-US" sz="2400"/>
              <a:t> An </a:t>
            </a:r>
            <a:r>
              <a:rPr b="1" lang="en-US" sz="2400"/>
              <a:t>entity</a:t>
            </a:r>
            <a:r>
              <a:rPr lang="en-US" sz="2400"/>
              <a:t> that tries to learn the best way to perform a specific task. </a:t>
            </a:r>
            <a:endParaRPr sz="2400"/>
          </a:p>
          <a:p>
            <a:pPr indent="-381000" lvl="0" marL="457200" rtl="0" algn="l">
              <a:lnSpc>
                <a:spcPct val="90000"/>
              </a:lnSpc>
              <a:spcBef>
                <a:spcPts val="0"/>
              </a:spcBef>
              <a:spcAft>
                <a:spcPts val="0"/>
              </a:spcAft>
              <a:buSzPts val="2400"/>
              <a:buChar char="-"/>
            </a:pPr>
            <a:r>
              <a:rPr lang="en-US" sz="2400"/>
              <a:t>In our example, the child is the agent who learns to ride a bicycle. </a:t>
            </a:r>
            <a:endParaRPr sz="2400"/>
          </a:p>
          <a:p>
            <a:pPr indent="0" lvl="0" marL="1371600" rtl="0" algn="l">
              <a:lnSpc>
                <a:spcPct val="90000"/>
              </a:lnSpc>
              <a:spcBef>
                <a:spcPts val="1000"/>
              </a:spcBef>
              <a:spcAft>
                <a:spcPts val="0"/>
              </a:spcAft>
              <a:buSzPts val="2800"/>
              <a:buNone/>
            </a:pPr>
            <a:r>
              <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Action (A)</a:t>
            </a:r>
            <a:r>
              <a:rPr lang="en-US" sz="2400"/>
              <a:t> - </a:t>
            </a:r>
            <a:endParaRPr sz="2400"/>
          </a:p>
          <a:p>
            <a:pPr indent="-381000" lvl="0" marL="457200" rtl="0" algn="l">
              <a:lnSpc>
                <a:spcPct val="90000"/>
              </a:lnSpc>
              <a:spcBef>
                <a:spcPts val="1000"/>
              </a:spcBef>
              <a:spcAft>
                <a:spcPts val="0"/>
              </a:spcAft>
              <a:buSzPts val="2400"/>
              <a:buChar char="-"/>
            </a:pPr>
            <a:r>
              <a:rPr b="1" lang="en-US" sz="2400"/>
              <a:t>What the agent does </a:t>
            </a:r>
            <a:r>
              <a:rPr lang="en-US" sz="2400"/>
              <a:t>at each time step.</a:t>
            </a:r>
            <a:endParaRPr sz="2400"/>
          </a:p>
          <a:p>
            <a:pPr indent="-381000" lvl="0" marL="457200" rtl="0" algn="l">
              <a:lnSpc>
                <a:spcPct val="90000"/>
              </a:lnSpc>
              <a:spcBef>
                <a:spcPts val="0"/>
              </a:spcBef>
              <a:spcAft>
                <a:spcPts val="0"/>
              </a:spcAft>
              <a:buSzPts val="2400"/>
              <a:buChar char="-"/>
            </a:pPr>
            <a:r>
              <a:rPr lang="en-US" sz="2400"/>
              <a:t> In the example of a child learning to walk, the action would be “walking”.</a:t>
            </a:r>
            <a:endParaRPr sz="2400"/>
          </a:p>
          <a:p>
            <a:pPr indent="-381000" lvl="0" marL="457200" rtl="0" algn="l">
              <a:lnSpc>
                <a:spcPct val="90000"/>
              </a:lnSpc>
              <a:spcBef>
                <a:spcPts val="0"/>
              </a:spcBef>
              <a:spcAft>
                <a:spcPts val="0"/>
              </a:spcAft>
              <a:buSzPts val="2400"/>
              <a:buChar char="-"/>
            </a:pPr>
            <a:r>
              <a:rPr lang="en-US" sz="2400"/>
              <a:t> A is the set of all possible moves. </a:t>
            </a:r>
            <a:endParaRPr sz="2400"/>
          </a:p>
          <a:p>
            <a:pPr indent="-381000" lvl="0" marL="457200" rtl="0" algn="l">
              <a:lnSpc>
                <a:spcPct val="90000"/>
              </a:lnSpc>
              <a:spcBef>
                <a:spcPts val="0"/>
              </a:spcBef>
              <a:spcAft>
                <a:spcPts val="0"/>
              </a:spcAft>
              <a:buSzPts val="2400"/>
              <a:buChar char="-"/>
            </a:pPr>
            <a:r>
              <a:rPr lang="en-US" sz="2400"/>
              <a:t>In video games, the list might include running right or left, jumping high or low, crouching or standing still.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244ec1b14fb_0_98"/>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n-US"/>
              <a:t>Elements of Reinforcement Learning</a:t>
            </a:r>
            <a:endParaRPr/>
          </a:p>
          <a:p>
            <a:pPr indent="0" lvl="0" marL="0" rtl="0" algn="ctr">
              <a:lnSpc>
                <a:spcPct val="90000"/>
              </a:lnSpc>
              <a:spcBef>
                <a:spcPts val="0"/>
              </a:spcBef>
              <a:spcAft>
                <a:spcPts val="0"/>
              </a:spcAft>
              <a:buSzPts val="4000"/>
              <a:buNone/>
            </a:pPr>
            <a:r>
              <a:t/>
            </a:r>
            <a:endParaRPr/>
          </a:p>
        </p:txBody>
      </p:sp>
      <p:sp>
        <p:nvSpPr>
          <p:cNvPr id="305" name="Google Shape;305;g244ec1b14fb_0_9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06" name="Google Shape;306;g244ec1b14fb_0_98"/>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State (S)</a:t>
            </a:r>
            <a:r>
              <a:rPr lang="en-US" sz="2400"/>
              <a:t> </a:t>
            </a:r>
            <a:endParaRPr sz="2400"/>
          </a:p>
          <a:p>
            <a:pPr indent="-381000" lvl="0" marL="457200" rtl="0" algn="l">
              <a:lnSpc>
                <a:spcPct val="90000"/>
              </a:lnSpc>
              <a:spcBef>
                <a:spcPts val="1000"/>
              </a:spcBef>
              <a:spcAft>
                <a:spcPts val="0"/>
              </a:spcAft>
              <a:buSzPts val="2400"/>
              <a:buChar char="-"/>
            </a:pPr>
            <a:r>
              <a:rPr b="1" lang="en-US" sz="2400"/>
              <a:t>Current situation</a:t>
            </a:r>
            <a:r>
              <a:rPr lang="en-US" sz="2400"/>
              <a:t> of the agent. </a:t>
            </a:r>
            <a:endParaRPr sz="2400"/>
          </a:p>
          <a:p>
            <a:pPr indent="-381000" lvl="0" marL="457200" rtl="0" algn="l">
              <a:lnSpc>
                <a:spcPct val="90000"/>
              </a:lnSpc>
              <a:spcBef>
                <a:spcPts val="0"/>
              </a:spcBef>
              <a:spcAft>
                <a:spcPts val="0"/>
              </a:spcAft>
              <a:buSzPts val="2400"/>
              <a:buChar char="-"/>
            </a:pPr>
            <a:r>
              <a:rPr lang="en-US" sz="2400"/>
              <a:t>After doing performing an action, the agent can move to different states. </a:t>
            </a:r>
            <a:endParaRPr sz="2400"/>
          </a:p>
          <a:p>
            <a:pPr indent="-381000" lvl="0" marL="457200" rtl="0" algn="l">
              <a:lnSpc>
                <a:spcPct val="90000"/>
              </a:lnSpc>
              <a:spcBef>
                <a:spcPts val="0"/>
              </a:spcBef>
              <a:spcAft>
                <a:spcPts val="0"/>
              </a:spcAft>
              <a:buSzPts val="2400"/>
              <a:buChar char="-"/>
            </a:pPr>
            <a:r>
              <a:rPr lang="en-US" sz="2400"/>
              <a:t>In the example of a child learning to walk, the child can take the action of taking a step and move to the next state (position).</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Rewards (R) </a:t>
            </a:r>
            <a:endParaRPr sz="2400"/>
          </a:p>
          <a:p>
            <a:pPr indent="-381000" lvl="0" marL="457200" rtl="0" algn="l">
              <a:lnSpc>
                <a:spcPct val="90000"/>
              </a:lnSpc>
              <a:spcBef>
                <a:spcPts val="1000"/>
              </a:spcBef>
              <a:spcAft>
                <a:spcPts val="0"/>
              </a:spcAft>
              <a:buSzPts val="2400"/>
              <a:buChar char="-"/>
            </a:pPr>
            <a:r>
              <a:rPr lang="en-US" sz="2400"/>
              <a:t>Feedback that is given to the agent based on the action of the agent.</a:t>
            </a:r>
            <a:endParaRPr sz="2400"/>
          </a:p>
          <a:p>
            <a:pPr indent="-381000" lvl="0" marL="457200" rtl="0" algn="l">
              <a:lnSpc>
                <a:spcPct val="90000"/>
              </a:lnSpc>
              <a:spcBef>
                <a:spcPts val="0"/>
              </a:spcBef>
              <a:spcAft>
                <a:spcPts val="0"/>
              </a:spcAft>
              <a:buSzPts val="2400"/>
              <a:buChar char="-"/>
            </a:pPr>
            <a:r>
              <a:rPr lang="en-US" sz="2400"/>
              <a:t>If the action of the agent is good and can lead to winning or a positive side then a positive reward is given and vice versa.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244ec1b14fb_0_105"/>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n-US"/>
              <a:t>Elements of Reinforcement Learning</a:t>
            </a:r>
            <a:endParaRPr/>
          </a:p>
          <a:p>
            <a:pPr indent="0" lvl="0" marL="0" rtl="0" algn="ctr">
              <a:lnSpc>
                <a:spcPct val="90000"/>
              </a:lnSpc>
              <a:spcBef>
                <a:spcPts val="0"/>
              </a:spcBef>
              <a:spcAft>
                <a:spcPts val="0"/>
              </a:spcAft>
              <a:buSzPts val="4000"/>
              <a:buNone/>
            </a:pPr>
            <a:r>
              <a:t/>
            </a:r>
            <a:endParaRPr/>
          </a:p>
        </p:txBody>
      </p:sp>
      <p:sp>
        <p:nvSpPr>
          <p:cNvPr id="313" name="Google Shape;313;g244ec1b14fb_0_10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14" name="Google Shape;314;g244ec1b14fb_0_105"/>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Environment</a:t>
            </a:r>
            <a:r>
              <a:rPr lang="en-US" sz="2400"/>
              <a:t> </a:t>
            </a:r>
            <a:endParaRPr sz="2400"/>
          </a:p>
          <a:p>
            <a:pPr indent="-381000" lvl="0" marL="457200" rtl="0" algn="l">
              <a:lnSpc>
                <a:spcPct val="90000"/>
              </a:lnSpc>
              <a:spcBef>
                <a:spcPts val="1000"/>
              </a:spcBef>
              <a:spcAft>
                <a:spcPts val="0"/>
              </a:spcAft>
              <a:buSzPts val="2400"/>
              <a:buChar char="-"/>
            </a:pPr>
            <a:r>
              <a:rPr lang="en-US" sz="2400"/>
              <a:t>Outside world of an agent or physical world in which the agent operates.</a:t>
            </a:r>
            <a:endParaRPr sz="2400"/>
          </a:p>
          <a:p>
            <a:pPr indent="0" lvl="0" marL="457200" rtl="0" algn="l">
              <a:lnSpc>
                <a:spcPct val="90000"/>
              </a:lnSpc>
              <a:spcBef>
                <a:spcPts val="1000"/>
              </a:spcBef>
              <a:spcAft>
                <a:spcPts val="0"/>
              </a:spcAft>
              <a:buSzPts val="2800"/>
              <a:buNone/>
            </a:pPr>
            <a:r>
              <a:t/>
            </a:r>
            <a:endParaRPr sz="2400"/>
          </a:p>
          <a:p>
            <a:pPr indent="0" lvl="0" marL="0" rtl="0" algn="l">
              <a:lnSpc>
                <a:spcPct val="90000"/>
              </a:lnSpc>
              <a:spcBef>
                <a:spcPts val="1000"/>
              </a:spcBef>
              <a:spcAft>
                <a:spcPts val="0"/>
              </a:spcAft>
              <a:buClr>
                <a:schemeClr val="dk1"/>
              </a:buClr>
              <a:buSzPts val="1100"/>
              <a:buFont typeface="Arial"/>
              <a:buNone/>
            </a:pPr>
            <a:r>
              <a:rPr lang="en-US"/>
              <a:t>Formal Definition - </a:t>
            </a:r>
            <a:r>
              <a:rPr b="1" i="1" lang="en-US"/>
              <a:t>Reinforcement learning</a:t>
            </a:r>
            <a:r>
              <a:rPr i="1" lang="en-US"/>
              <a:t> (</a:t>
            </a:r>
            <a:r>
              <a:rPr b="1" i="1" lang="en-US"/>
              <a:t>RL</a:t>
            </a:r>
            <a:r>
              <a:rPr i="1" lang="en-US"/>
              <a:t>) is an area of machine learning concerned with how intelligent </a:t>
            </a:r>
            <a:r>
              <a:rPr b="1" i="1" lang="en-US"/>
              <a:t>agents</a:t>
            </a:r>
            <a:r>
              <a:rPr i="1" lang="en-US"/>
              <a:t> ought to take </a:t>
            </a:r>
            <a:r>
              <a:rPr b="1" i="1" lang="en-US"/>
              <a:t>actions</a:t>
            </a:r>
            <a:r>
              <a:rPr i="1" lang="en-US"/>
              <a:t> in an </a:t>
            </a:r>
            <a:r>
              <a:rPr b="1" i="1" lang="en-US"/>
              <a:t>environment</a:t>
            </a:r>
            <a:r>
              <a:rPr i="1" lang="en-US"/>
              <a:t> in order to maximize the notion of cumulative </a:t>
            </a:r>
            <a:r>
              <a:rPr b="1" i="1" lang="en-US"/>
              <a:t>reward</a:t>
            </a:r>
            <a:r>
              <a:rPr i="1" lang="en-US"/>
              <a:t>.</a:t>
            </a:r>
            <a:endParaRPr sz="2400"/>
          </a:p>
          <a:p>
            <a:pPr indent="0" lvl="0" marL="0" rtl="0" algn="l">
              <a:lnSpc>
                <a:spcPct val="90000"/>
              </a:lnSpc>
              <a:spcBef>
                <a:spcPts val="1000"/>
              </a:spcBef>
              <a:spcAft>
                <a:spcPts val="0"/>
              </a:spcAft>
              <a:buClr>
                <a:schemeClr val="dk1"/>
              </a:buClr>
              <a:buSzPts val="1100"/>
              <a:buFont typeface="Arial"/>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16b0105bef_0_0"/>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20" name="Google Shape;320;g316b0105bef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21" name="Google Shape;321;g316b0105bef_0_0"/>
          <p:cNvPicPr preferRelativeResize="0"/>
          <p:nvPr/>
        </p:nvPicPr>
        <p:blipFill rotWithShape="1">
          <a:blip r:embed="rId3">
            <a:alphaModFix/>
          </a:blip>
          <a:srcRect b="0" l="0" r="0" t="0"/>
          <a:stretch/>
        </p:blipFill>
        <p:spPr>
          <a:xfrm>
            <a:off x="8472488" y="1685800"/>
            <a:ext cx="3019425" cy="3095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316b0105bef_0_6"/>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27" name="Google Shape;327;g316b0105bef_0_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28" name="Google Shape;328;g316b0105bef_0_6"/>
          <p:cNvPicPr preferRelativeResize="0"/>
          <p:nvPr/>
        </p:nvPicPr>
        <p:blipFill rotWithShape="1">
          <a:blip r:embed="rId3">
            <a:alphaModFix/>
          </a:blip>
          <a:srcRect b="0" l="0" r="0" t="0"/>
          <a:stretch/>
        </p:blipFill>
        <p:spPr>
          <a:xfrm>
            <a:off x="8472488" y="1685800"/>
            <a:ext cx="3019425" cy="3095625"/>
          </a:xfrm>
          <a:prstGeom prst="rect">
            <a:avLst/>
          </a:prstGeom>
          <a:noFill/>
          <a:ln>
            <a:noFill/>
          </a:ln>
        </p:spPr>
      </p:pic>
      <p:sp>
        <p:nvSpPr>
          <p:cNvPr id="329" name="Google Shape;329;g316b0105bef_0_6"/>
          <p:cNvSpPr txBox="1"/>
          <p:nvPr/>
        </p:nvSpPr>
        <p:spPr>
          <a:xfrm>
            <a:off x="8056225" y="5076550"/>
            <a:ext cx="3964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C4587"/>
                </a:solidFill>
                <a:latin typeface="Calibri"/>
                <a:ea typeface="Calibri"/>
                <a:cs typeface="Calibri"/>
                <a:sym typeface="Calibri"/>
              </a:rPr>
              <a:t>Set up a table of states initial values </a:t>
            </a:r>
            <a:endParaRPr b="1" i="0" sz="1800" u="none" cap="none" strike="noStrike">
              <a:solidFill>
                <a:srgbClr val="1C4587"/>
              </a:solidFill>
              <a:latin typeface="Calibri"/>
              <a:ea typeface="Calibri"/>
              <a:cs typeface="Calibri"/>
              <a:sym typeface="Calibri"/>
            </a:endParaRPr>
          </a:p>
        </p:txBody>
      </p:sp>
      <p:pic>
        <p:nvPicPr>
          <p:cNvPr id="330" name="Google Shape;330;g316b0105bef_0_6"/>
          <p:cNvPicPr preferRelativeResize="0"/>
          <p:nvPr/>
        </p:nvPicPr>
        <p:blipFill rotWithShape="1">
          <a:blip r:embed="rId4">
            <a:alphaModFix/>
          </a:blip>
          <a:srcRect b="0" l="0" r="0" t="0"/>
          <a:stretch/>
        </p:blipFill>
        <p:spPr>
          <a:xfrm>
            <a:off x="152400" y="1763725"/>
            <a:ext cx="1216872" cy="1163500"/>
          </a:xfrm>
          <a:prstGeom prst="rect">
            <a:avLst/>
          </a:prstGeom>
          <a:noFill/>
          <a:ln>
            <a:noFill/>
          </a:ln>
        </p:spPr>
      </p:pic>
      <p:pic>
        <p:nvPicPr>
          <p:cNvPr id="331" name="Google Shape;331;g316b0105bef_0_6"/>
          <p:cNvPicPr preferRelativeResize="0"/>
          <p:nvPr/>
        </p:nvPicPr>
        <p:blipFill rotWithShape="1">
          <a:blip r:embed="rId5">
            <a:alphaModFix/>
          </a:blip>
          <a:srcRect b="0" l="0" r="0" t="0"/>
          <a:stretch/>
        </p:blipFill>
        <p:spPr>
          <a:xfrm>
            <a:off x="152400" y="3030550"/>
            <a:ext cx="1255200" cy="928497"/>
          </a:xfrm>
          <a:prstGeom prst="rect">
            <a:avLst/>
          </a:prstGeom>
          <a:noFill/>
          <a:ln>
            <a:noFill/>
          </a:ln>
        </p:spPr>
      </p:pic>
      <p:pic>
        <p:nvPicPr>
          <p:cNvPr id="332" name="Google Shape;332;g316b0105bef_0_6"/>
          <p:cNvPicPr preferRelativeResize="0"/>
          <p:nvPr/>
        </p:nvPicPr>
        <p:blipFill rotWithShape="1">
          <a:blip r:embed="rId6">
            <a:alphaModFix/>
          </a:blip>
          <a:srcRect b="0" l="0" r="0" t="0"/>
          <a:stretch/>
        </p:blipFill>
        <p:spPr>
          <a:xfrm>
            <a:off x="152400" y="4062375"/>
            <a:ext cx="1255208" cy="871450"/>
          </a:xfrm>
          <a:prstGeom prst="rect">
            <a:avLst/>
          </a:prstGeom>
          <a:noFill/>
          <a:ln>
            <a:noFill/>
          </a:ln>
        </p:spPr>
      </p:pic>
      <p:pic>
        <p:nvPicPr>
          <p:cNvPr id="333" name="Google Shape;333;g316b0105bef_0_6"/>
          <p:cNvPicPr preferRelativeResize="0"/>
          <p:nvPr/>
        </p:nvPicPr>
        <p:blipFill rotWithShape="1">
          <a:blip r:embed="rId7">
            <a:alphaModFix/>
          </a:blip>
          <a:srcRect b="0" l="0" r="0" t="0"/>
          <a:stretch/>
        </p:blipFill>
        <p:spPr>
          <a:xfrm>
            <a:off x="175175" y="4950864"/>
            <a:ext cx="1216875" cy="1025211"/>
          </a:xfrm>
          <a:prstGeom prst="rect">
            <a:avLst/>
          </a:prstGeom>
          <a:noFill/>
          <a:ln>
            <a:noFill/>
          </a:ln>
        </p:spPr>
      </p:pic>
      <p:sp>
        <p:nvSpPr>
          <p:cNvPr id="334" name="Google Shape;334;g316b0105bef_0_6"/>
          <p:cNvSpPr txBox="1"/>
          <p:nvPr/>
        </p:nvSpPr>
        <p:spPr>
          <a:xfrm>
            <a:off x="977825" y="5227050"/>
            <a:ext cx="3312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Calibri"/>
                <a:ea typeface="Calibri"/>
                <a:cs typeface="Calibri"/>
                <a:sym typeface="Calibri"/>
              </a:rPr>
              <a:t>O</a:t>
            </a:r>
            <a:endParaRPr b="0" i="1" sz="2100" u="none" cap="none" strike="noStrike">
              <a:solidFill>
                <a:srgbClr val="000000"/>
              </a:solidFill>
              <a:latin typeface="Calibri"/>
              <a:ea typeface="Calibri"/>
              <a:cs typeface="Calibri"/>
              <a:sym typeface="Calibri"/>
            </a:endParaRPr>
          </a:p>
        </p:txBody>
      </p:sp>
      <p:sp>
        <p:nvSpPr>
          <p:cNvPr id="335" name="Google Shape;335;g316b0105bef_0_6"/>
          <p:cNvSpPr txBox="1"/>
          <p:nvPr/>
        </p:nvSpPr>
        <p:spPr>
          <a:xfrm>
            <a:off x="977825" y="5483143"/>
            <a:ext cx="3312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Calibri"/>
                <a:ea typeface="Calibri"/>
                <a:cs typeface="Calibri"/>
                <a:sym typeface="Calibri"/>
              </a:rPr>
              <a:t>O</a:t>
            </a:r>
            <a:endParaRPr b="0" i="1" sz="2100" u="none" cap="none" strike="noStrike">
              <a:solidFill>
                <a:srgbClr val="000000"/>
              </a:solidFill>
              <a:latin typeface="Calibri"/>
              <a:ea typeface="Calibri"/>
              <a:cs typeface="Calibri"/>
              <a:sym typeface="Calibri"/>
            </a:endParaRPr>
          </a:p>
        </p:txBody>
      </p:sp>
      <p:pic>
        <p:nvPicPr>
          <p:cNvPr id="336" name="Google Shape;336;g316b0105bef_0_6"/>
          <p:cNvPicPr preferRelativeResize="0"/>
          <p:nvPr/>
        </p:nvPicPr>
        <p:blipFill rotWithShape="1">
          <a:blip r:embed="rId8">
            <a:alphaModFix/>
          </a:blip>
          <a:srcRect b="0" l="0" r="0" t="0"/>
          <a:stretch/>
        </p:blipFill>
        <p:spPr>
          <a:xfrm>
            <a:off x="251375" y="5272796"/>
            <a:ext cx="737125" cy="596204"/>
          </a:xfrm>
          <a:prstGeom prst="rect">
            <a:avLst/>
          </a:prstGeom>
          <a:noFill/>
          <a:ln>
            <a:noFill/>
          </a:ln>
        </p:spPr>
      </p:pic>
      <p:cxnSp>
        <p:nvCxnSpPr>
          <p:cNvPr id="337" name="Google Shape;337;g316b0105bef_0_6"/>
          <p:cNvCxnSpPr/>
          <p:nvPr/>
        </p:nvCxnSpPr>
        <p:spPr>
          <a:xfrm flipH="1">
            <a:off x="1802150" y="1500200"/>
            <a:ext cx="39000" cy="5026500"/>
          </a:xfrm>
          <a:prstGeom prst="straightConnector1">
            <a:avLst/>
          </a:prstGeom>
          <a:noFill/>
          <a:ln cap="flat" cmpd="sng" w="19050">
            <a:solidFill>
              <a:srgbClr val="1155CC"/>
            </a:solidFill>
            <a:prstDash val="solid"/>
            <a:round/>
            <a:headEnd len="sm" w="sm" type="none"/>
            <a:tailEnd len="sm" w="sm" type="none"/>
          </a:ln>
        </p:spPr>
      </p:cxnSp>
      <p:cxnSp>
        <p:nvCxnSpPr>
          <p:cNvPr id="338" name="Google Shape;338;g316b0105bef_0_6"/>
          <p:cNvCxnSpPr/>
          <p:nvPr/>
        </p:nvCxnSpPr>
        <p:spPr>
          <a:xfrm>
            <a:off x="48700" y="29419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39" name="Google Shape;339;g316b0105bef_0_6"/>
          <p:cNvCxnSpPr/>
          <p:nvPr/>
        </p:nvCxnSpPr>
        <p:spPr>
          <a:xfrm>
            <a:off x="48700" y="40087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40" name="Google Shape;340;g316b0105bef_0_6"/>
          <p:cNvCxnSpPr/>
          <p:nvPr/>
        </p:nvCxnSpPr>
        <p:spPr>
          <a:xfrm>
            <a:off x="124900" y="49231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41" name="Google Shape;341;g316b0105bef_0_6"/>
          <p:cNvCxnSpPr/>
          <p:nvPr/>
        </p:nvCxnSpPr>
        <p:spPr>
          <a:xfrm>
            <a:off x="124900" y="60661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42" name="Google Shape;342;g316b0105bef_0_6"/>
          <p:cNvCxnSpPr/>
          <p:nvPr/>
        </p:nvCxnSpPr>
        <p:spPr>
          <a:xfrm>
            <a:off x="124900" y="1722725"/>
            <a:ext cx="3292500" cy="0"/>
          </a:xfrm>
          <a:prstGeom prst="straightConnector1">
            <a:avLst/>
          </a:prstGeom>
          <a:noFill/>
          <a:ln cap="flat" cmpd="sng" w="19050">
            <a:solidFill>
              <a:srgbClr val="1155CC"/>
            </a:solidFill>
            <a:prstDash val="solid"/>
            <a:round/>
            <a:headEnd len="sm" w="sm" type="none"/>
            <a:tailEnd len="sm" w="sm" type="none"/>
          </a:ln>
        </p:spPr>
      </p:cxnSp>
      <p:sp>
        <p:nvSpPr>
          <p:cNvPr id="343" name="Google Shape;343;g316b0105bef_0_6"/>
          <p:cNvSpPr txBox="1"/>
          <p:nvPr/>
        </p:nvSpPr>
        <p:spPr>
          <a:xfrm>
            <a:off x="311725" y="1289350"/>
            <a:ext cx="1216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8761D"/>
                </a:solidFill>
                <a:latin typeface="Calibri"/>
                <a:ea typeface="Calibri"/>
                <a:cs typeface="Calibri"/>
                <a:sym typeface="Calibri"/>
              </a:rPr>
              <a:t>States</a:t>
            </a:r>
            <a:endParaRPr b="1" i="0" sz="1900" u="none" cap="none" strike="noStrike">
              <a:solidFill>
                <a:srgbClr val="38761D"/>
              </a:solidFill>
              <a:latin typeface="Calibri"/>
              <a:ea typeface="Calibri"/>
              <a:cs typeface="Calibri"/>
              <a:sym typeface="Calibri"/>
            </a:endParaRPr>
          </a:p>
        </p:txBody>
      </p:sp>
      <p:sp>
        <p:nvSpPr>
          <p:cNvPr id="344" name="Google Shape;344;g316b0105bef_0_6"/>
          <p:cNvSpPr txBox="1"/>
          <p:nvPr/>
        </p:nvSpPr>
        <p:spPr>
          <a:xfrm>
            <a:off x="1911925" y="1289350"/>
            <a:ext cx="1648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8761D"/>
                </a:solidFill>
                <a:latin typeface="Calibri"/>
                <a:ea typeface="Calibri"/>
                <a:cs typeface="Calibri"/>
                <a:sym typeface="Calibri"/>
              </a:rPr>
              <a:t>Initial Values</a:t>
            </a:r>
            <a:endParaRPr b="1" i="0" sz="1900" u="none" cap="none" strike="noStrike">
              <a:solidFill>
                <a:srgbClr val="38761D"/>
              </a:solidFill>
              <a:latin typeface="Calibri"/>
              <a:ea typeface="Calibri"/>
              <a:cs typeface="Calibri"/>
              <a:sym typeface="Calibri"/>
            </a:endParaRPr>
          </a:p>
        </p:txBody>
      </p:sp>
      <p:sp>
        <p:nvSpPr>
          <p:cNvPr id="345" name="Google Shape;345;g316b0105bef_0_6"/>
          <p:cNvSpPr txBox="1"/>
          <p:nvPr/>
        </p:nvSpPr>
        <p:spPr>
          <a:xfrm>
            <a:off x="2347700" y="2074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0.5</a:t>
            </a:r>
            <a:endParaRPr b="1" i="0" sz="2600" u="none" cap="none" strike="noStrike">
              <a:solidFill>
                <a:srgbClr val="000000"/>
              </a:solidFill>
              <a:latin typeface="Calibri"/>
              <a:ea typeface="Calibri"/>
              <a:cs typeface="Calibri"/>
              <a:sym typeface="Calibri"/>
            </a:endParaRPr>
          </a:p>
        </p:txBody>
      </p:sp>
      <p:sp>
        <p:nvSpPr>
          <p:cNvPr id="346" name="Google Shape;346;g316b0105bef_0_6"/>
          <p:cNvSpPr txBox="1"/>
          <p:nvPr/>
        </p:nvSpPr>
        <p:spPr>
          <a:xfrm>
            <a:off x="2347700" y="3217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0.5</a:t>
            </a:r>
            <a:endParaRPr b="1" i="0" sz="2600" u="none" cap="none" strike="noStrike">
              <a:solidFill>
                <a:srgbClr val="000000"/>
              </a:solidFill>
              <a:latin typeface="Calibri"/>
              <a:ea typeface="Calibri"/>
              <a:cs typeface="Calibri"/>
              <a:sym typeface="Calibri"/>
            </a:endParaRPr>
          </a:p>
        </p:txBody>
      </p:sp>
      <p:sp>
        <p:nvSpPr>
          <p:cNvPr id="347" name="Google Shape;347;g316b0105bef_0_6"/>
          <p:cNvSpPr txBox="1"/>
          <p:nvPr/>
        </p:nvSpPr>
        <p:spPr>
          <a:xfrm>
            <a:off x="2347700" y="4132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1.0</a:t>
            </a:r>
            <a:endParaRPr b="1" i="0" sz="2600" u="none" cap="none" strike="noStrike">
              <a:solidFill>
                <a:srgbClr val="000000"/>
              </a:solidFill>
              <a:latin typeface="Calibri"/>
              <a:ea typeface="Calibri"/>
              <a:cs typeface="Calibri"/>
              <a:sym typeface="Calibri"/>
            </a:endParaRPr>
          </a:p>
        </p:txBody>
      </p:sp>
      <p:sp>
        <p:nvSpPr>
          <p:cNvPr id="348" name="Google Shape;348;g316b0105bef_0_6"/>
          <p:cNvSpPr txBox="1"/>
          <p:nvPr/>
        </p:nvSpPr>
        <p:spPr>
          <a:xfrm>
            <a:off x="2347700" y="5122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 0</a:t>
            </a:r>
            <a:endParaRPr b="1" i="0" sz="2600" u="none" cap="none" strike="noStrike">
              <a:solidFill>
                <a:srgbClr val="000000"/>
              </a:solidFill>
              <a:latin typeface="Calibri"/>
              <a:ea typeface="Calibri"/>
              <a:cs typeface="Calibri"/>
              <a:sym typeface="Calibri"/>
            </a:endParaRPr>
          </a:p>
        </p:txBody>
      </p:sp>
      <p:sp>
        <p:nvSpPr>
          <p:cNvPr id="349" name="Google Shape;349;g316b0105bef_0_6"/>
          <p:cNvSpPr txBox="1"/>
          <p:nvPr/>
        </p:nvSpPr>
        <p:spPr>
          <a:xfrm>
            <a:off x="518900" y="6037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a:t>
            </a:r>
            <a:endParaRPr b="1" i="0" sz="2600" u="none" cap="none" strike="noStrike">
              <a:solidFill>
                <a:srgbClr val="000000"/>
              </a:solidFill>
              <a:latin typeface="Calibri"/>
              <a:ea typeface="Calibri"/>
              <a:cs typeface="Calibri"/>
              <a:sym typeface="Calibri"/>
            </a:endParaRPr>
          </a:p>
        </p:txBody>
      </p:sp>
      <p:sp>
        <p:nvSpPr>
          <p:cNvPr id="350" name="Google Shape;350;g316b0105bef_0_6"/>
          <p:cNvSpPr txBox="1"/>
          <p:nvPr/>
        </p:nvSpPr>
        <p:spPr>
          <a:xfrm>
            <a:off x="2347700" y="6037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a:t>
            </a:r>
            <a:endParaRPr b="1" i="0" sz="2600" u="none" cap="none" strike="noStrike">
              <a:solidFill>
                <a:srgbClr val="000000"/>
              </a:solidFill>
              <a:latin typeface="Calibri"/>
              <a:ea typeface="Calibri"/>
              <a:cs typeface="Calibri"/>
              <a:sym typeface="Calibri"/>
            </a:endParaRPr>
          </a:p>
        </p:txBody>
      </p:sp>
      <p:sp>
        <p:nvSpPr>
          <p:cNvPr id="351" name="Google Shape;351;g316b0105bef_0_6"/>
          <p:cNvSpPr txBox="1"/>
          <p:nvPr/>
        </p:nvSpPr>
        <p:spPr>
          <a:xfrm>
            <a:off x="3604350" y="3375975"/>
            <a:ext cx="3097800" cy="106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sng" cap="none" strike="noStrike">
                <a:solidFill>
                  <a:srgbClr val="990000"/>
                </a:solidFill>
                <a:latin typeface="Calibri"/>
                <a:ea typeface="Calibri"/>
                <a:cs typeface="Calibri"/>
                <a:sym typeface="Calibri"/>
              </a:rPr>
              <a:t>Learning Task:</a:t>
            </a:r>
            <a:r>
              <a:rPr b="1" i="0" lang="en-US" sz="1900" u="none" cap="none" strike="noStrike">
                <a:solidFill>
                  <a:srgbClr val="990000"/>
                </a:solidFill>
                <a:latin typeface="Calibri"/>
                <a:ea typeface="Calibri"/>
                <a:cs typeface="Calibri"/>
                <a:sym typeface="Calibri"/>
              </a:rPr>
              <a:t> Play as many times against the opponent and learn the values </a:t>
            </a:r>
            <a:endParaRPr b="1" i="0" sz="1900" u="none" cap="none" strike="noStrike">
              <a:solidFill>
                <a:srgbClr val="99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16b0105bef_0_35"/>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57" name="Google Shape;357;g316b0105bef_0_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58" name="Google Shape;358;g316b0105bef_0_35"/>
          <p:cNvPicPr preferRelativeResize="0"/>
          <p:nvPr/>
        </p:nvPicPr>
        <p:blipFill rotWithShape="1">
          <a:blip r:embed="rId3">
            <a:alphaModFix/>
          </a:blip>
          <a:srcRect b="0" l="0" r="0" t="0"/>
          <a:stretch/>
        </p:blipFill>
        <p:spPr>
          <a:xfrm>
            <a:off x="152400" y="1763725"/>
            <a:ext cx="1216872" cy="1163500"/>
          </a:xfrm>
          <a:prstGeom prst="rect">
            <a:avLst/>
          </a:prstGeom>
          <a:noFill/>
          <a:ln>
            <a:noFill/>
          </a:ln>
        </p:spPr>
      </p:pic>
      <p:pic>
        <p:nvPicPr>
          <p:cNvPr id="359" name="Google Shape;359;g316b0105bef_0_35"/>
          <p:cNvPicPr preferRelativeResize="0"/>
          <p:nvPr/>
        </p:nvPicPr>
        <p:blipFill rotWithShape="1">
          <a:blip r:embed="rId4">
            <a:alphaModFix/>
          </a:blip>
          <a:srcRect b="0" l="0" r="0" t="0"/>
          <a:stretch/>
        </p:blipFill>
        <p:spPr>
          <a:xfrm>
            <a:off x="152400" y="3030550"/>
            <a:ext cx="1255200" cy="928497"/>
          </a:xfrm>
          <a:prstGeom prst="rect">
            <a:avLst/>
          </a:prstGeom>
          <a:noFill/>
          <a:ln>
            <a:noFill/>
          </a:ln>
        </p:spPr>
      </p:pic>
      <p:pic>
        <p:nvPicPr>
          <p:cNvPr id="360" name="Google Shape;360;g316b0105bef_0_35"/>
          <p:cNvPicPr preferRelativeResize="0"/>
          <p:nvPr/>
        </p:nvPicPr>
        <p:blipFill rotWithShape="1">
          <a:blip r:embed="rId5">
            <a:alphaModFix/>
          </a:blip>
          <a:srcRect b="0" l="0" r="0" t="0"/>
          <a:stretch/>
        </p:blipFill>
        <p:spPr>
          <a:xfrm>
            <a:off x="152400" y="4062375"/>
            <a:ext cx="1255208" cy="871450"/>
          </a:xfrm>
          <a:prstGeom prst="rect">
            <a:avLst/>
          </a:prstGeom>
          <a:noFill/>
          <a:ln>
            <a:noFill/>
          </a:ln>
        </p:spPr>
      </p:pic>
      <p:pic>
        <p:nvPicPr>
          <p:cNvPr id="361" name="Google Shape;361;g316b0105bef_0_35"/>
          <p:cNvPicPr preferRelativeResize="0"/>
          <p:nvPr/>
        </p:nvPicPr>
        <p:blipFill rotWithShape="1">
          <a:blip r:embed="rId6">
            <a:alphaModFix/>
          </a:blip>
          <a:srcRect b="0" l="0" r="0" t="0"/>
          <a:stretch/>
        </p:blipFill>
        <p:spPr>
          <a:xfrm>
            <a:off x="175175" y="4950864"/>
            <a:ext cx="1216875" cy="1025211"/>
          </a:xfrm>
          <a:prstGeom prst="rect">
            <a:avLst/>
          </a:prstGeom>
          <a:noFill/>
          <a:ln>
            <a:noFill/>
          </a:ln>
        </p:spPr>
      </p:pic>
      <p:sp>
        <p:nvSpPr>
          <p:cNvPr id="362" name="Google Shape;362;g316b0105bef_0_35"/>
          <p:cNvSpPr txBox="1"/>
          <p:nvPr/>
        </p:nvSpPr>
        <p:spPr>
          <a:xfrm>
            <a:off x="977825" y="5227050"/>
            <a:ext cx="3312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Calibri"/>
                <a:ea typeface="Calibri"/>
                <a:cs typeface="Calibri"/>
                <a:sym typeface="Calibri"/>
              </a:rPr>
              <a:t>O</a:t>
            </a:r>
            <a:endParaRPr b="0" i="1" sz="2100" u="none" cap="none" strike="noStrike">
              <a:solidFill>
                <a:srgbClr val="000000"/>
              </a:solidFill>
              <a:latin typeface="Calibri"/>
              <a:ea typeface="Calibri"/>
              <a:cs typeface="Calibri"/>
              <a:sym typeface="Calibri"/>
            </a:endParaRPr>
          </a:p>
        </p:txBody>
      </p:sp>
      <p:sp>
        <p:nvSpPr>
          <p:cNvPr id="363" name="Google Shape;363;g316b0105bef_0_35"/>
          <p:cNvSpPr txBox="1"/>
          <p:nvPr/>
        </p:nvSpPr>
        <p:spPr>
          <a:xfrm>
            <a:off x="977825" y="5483143"/>
            <a:ext cx="3312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Calibri"/>
                <a:ea typeface="Calibri"/>
                <a:cs typeface="Calibri"/>
                <a:sym typeface="Calibri"/>
              </a:rPr>
              <a:t>O</a:t>
            </a:r>
            <a:endParaRPr b="0" i="1" sz="2100" u="none" cap="none" strike="noStrike">
              <a:solidFill>
                <a:srgbClr val="000000"/>
              </a:solidFill>
              <a:latin typeface="Calibri"/>
              <a:ea typeface="Calibri"/>
              <a:cs typeface="Calibri"/>
              <a:sym typeface="Calibri"/>
            </a:endParaRPr>
          </a:p>
        </p:txBody>
      </p:sp>
      <p:pic>
        <p:nvPicPr>
          <p:cNvPr id="364" name="Google Shape;364;g316b0105bef_0_35"/>
          <p:cNvPicPr preferRelativeResize="0"/>
          <p:nvPr/>
        </p:nvPicPr>
        <p:blipFill rotWithShape="1">
          <a:blip r:embed="rId7">
            <a:alphaModFix/>
          </a:blip>
          <a:srcRect b="0" l="0" r="0" t="0"/>
          <a:stretch/>
        </p:blipFill>
        <p:spPr>
          <a:xfrm>
            <a:off x="251375" y="5272796"/>
            <a:ext cx="737125" cy="596204"/>
          </a:xfrm>
          <a:prstGeom prst="rect">
            <a:avLst/>
          </a:prstGeom>
          <a:noFill/>
          <a:ln>
            <a:noFill/>
          </a:ln>
        </p:spPr>
      </p:pic>
      <p:cxnSp>
        <p:nvCxnSpPr>
          <p:cNvPr id="365" name="Google Shape;365;g316b0105bef_0_35"/>
          <p:cNvCxnSpPr/>
          <p:nvPr/>
        </p:nvCxnSpPr>
        <p:spPr>
          <a:xfrm flipH="1">
            <a:off x="1802150" y="1500200"/>
            <a:ext cx="39000" cy="5026500"/>
          </a:xfrm>
          <a:prstGeom prst="straightConnector1">
            <a:avLst/>
          </a:prstGeom>
          <a:noFill/>
          <a:ln cap="flat" cmpd="sng" w="19050">
            <a:solidFill>
              <a:srgbClr val="1155CC"/>
            </a:solidFill>
            <a:prstDash val="solid"/>
            <a:round/>
            <a:headEnd len="sm" w="sm" type="none"/>
            <a:tailEnd len="sm" w="sm" type="none"/>
          </a:ln>
        </p:spPr>
      </p:cxnSp>
      <p:cxnSp>
        <p:nvCxnSpPr>
          <p:cNvPr id="366" name="Google Shape;366;g316b0105bef_0_35"/>
          <p:cNvCxnSpPr/>
          <p:nvPr/>
        </p:nvCxnSpPr>
        <p:spPr>
          <a:xfrm>
            <a:off x="48700" y="29419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67" name="Google Shape;367;g316b0105bef_0_35"/>
          <p:cNvCxnSpPr/>
          <p:nvPr/>
        </p:nvCxnSpPr>
        <p:spPr>
          <a:xfrm>
            <a:off x="48700" y="40087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68" name="Google Shape;368;g316b0105bef_0_35"/>
          <p:cNvCxnSpPr/>
          <p:nvPr/>
        </p:nvCxnSpPr>
        <p:spPr>
          <a:xfrm>
            <a:off x="124900" y="49231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69" name="Google Shape;369;g316b0105bef_0_35"/>
          <p:cNvCxnSpPr/>
          <p:nvPr/>
        </p:nvCxnSpPr>
        <p:spPr>
          <a:xfrm>
            <a:off x="124900" y="60661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70" name="Google Shape;370;g316b0105bef_0_35"/>
          <p:cNvCxnSpPr/>
          <p:nvPr/>
        </p:nvCxnSpPr>
        <p:spPr>
          <a:xfrm>
            <a:off x="124900" y="1722725"/>
            <a:ext cx="3292500" cy="0"/>
          </a:xfrm>
          <a:prstGeom prst="straightConnector1">
            <a:avLst/>
          </a:prstGeom>
          <a:noFill/>
          <a:ln cap="flat" cmpd="sng" w="19050">
            <a:solidFill>
              <a:srgbClr val="1155CC"/>
            </a:solidFill>
            <a:prstDash val="solid"/>
            <a:round/>
            <a:headEnd len="sm" w="sm" type="none"/>
            <a:tailEnd len="sm" w="sm" type="none"/>
          </a:ln>
        </p:spPr>
      </p:cxnSp>
      <p:sp>
        <p:nvSpPr>
          <p:cNvPr id="371" name="Google Shape;371;g316b0105bef_0_35"/>
          <p:cNvSpPr txBox="1"/>
          <p:nvPr/>
        </p:nvSpPr>
        <p:spPr>
          <a:xfrm>
            <a:off x="311725" y="1289350"/>
            <a:ext cx="1216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8761D"/>
                </a:solidFill>
                <a:latin typeface="Calibri"/>
                <a:ea typeface="Calibri"/>
                <a:cs typeface="Calibri"/>
                <a:sym typeface="Calibri"/>
              </a:rPr>
              <a:t>States</a:t>
            </a:r>
            <a:endParaRPr b="1" i="0" sz="1900" u="none" cap="none" strike="noStrike">
              <a:solidFill>
                <a:srgbClr val="38761D"/>
              </a:solidFill>
              <a:latin typeface="Calibri"/>
              <a:ea typeface="Calibri"/>
              <a:cs typeface="Calibri"/>
              <a:sym typeface="Calibri"/>
            </a:endParaRPr>
          </a:p>
        </p:txBody>
      </p:sp>
      <p:sp>
        <p:nvSpPr>
          <p:cNvPr id="372" name="Google Shape;372;g316b0105bef_0_35"/>
          <p:cNvSpPr txBox="1"/>
          <p:nvPr/>
        </p:nvSpPr>
        <p:spPr>
          <a:xfrm>
            <a:off x="1911925" y="1289350"/>
            <a:ext cx="1648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8761D"/>
                </a:solidFill>
                <a:latin typeface="Calibri"/>
                <a:ea typeface="Calibri"/>
                <a:cs typeface="Calibri"/>
                <a:sym typeface="Calibri"/>
              </a:rPr>
              <a:t>Initial Values</a:t>
            </a:r>
            <a:endParaRPr b="1" i="0" sz="1900" u="none" cap="none" strike="noStrike">
              <a:solidFill>
                <a:srgbClr val="38761D"/>
              </a:solidFill>
              <a:latin typeface="Calibri"/>
              <a:ea typeface="Calibri"/>
              <a:cs typeface="Calibri"/>
              <a:sym typeface="Calibri"/>
            </a:endParaRPr>
          </a:p>
        </p:txBody>
      </p:sp>
      <p:sp>
        <p:nvSpPr>
          <p:cNvPr id="373" name="Google Shape;373;g316b0105bef_0_35"/>
          <p:cNvSpPr txBox="1"/>
          <p:nvPr/>
        </p:nvSpPr>
        <p:spPr>
          <a:xfrm>
            <a:off x="2347700" y="2074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0.5</a:t>
            </a:r>
            <a:endParaRPr b="1" i="0" sz="2600" u="none" cap="none" strike="noStrike">
              <a:solidFill>
                <a:srgbClr val="000000"/>
              </a:solidFill>
              <a:latin typeface="Calibri"/>
              <a:ea typeface="Calibri"/>
              <a:cs typeface="Calibri"/>
              <a:sym typeface="Calibri"/>
            </a:endParaRPr>
          </a:p>
        </p:txBody>
      </p:sp>
      <p:sp>
        <p:nvSpPr>
          <p:cNvPr id="374" name="Google Shape;374;g316b0105bef_0_35"/>
          <p:cNvSpPr txBox="1"/>
          <p:nvPr/>
        </p:nvSpPr>
        <p:spPr>
          <a:xfrm>
            <a:off x="2347700" y="3217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0.5</a:t>
            </a:r>
            <a:endParaRPr b="1" i="0" sz="2600" u="none" cap="none" strike="noStrike">
              <a:solidFill>
                <a:srgbClr val="000000"/>
              </a:solidFill>
              <a:latin typeface="Calibri"/>
              <a:ea typeface="Calibri"/>
              <a:cs typeface="Calibri"/>
              <a:sym typeface="Calibri"/>
            </a:endParaRPr>
          </a:p>
        </p:txBody>
      </p:sp>
      <p:sp>
        <p:nvSpPr>
          <p:cNvPr id="375" name="Google Shape;375;g316b0105bef_0_35"/>
          <p:cNvSpPr txBox="1"/>
          <p:nvPr/>
        </p:nvSpPr>
        <p:spPr>
          <a:xfrm>
            <a:off x="2347700" y="4132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1.0</a:t>
            </a:r>
            <a:endParaRPr b="1" i="0" sz="2600" u="none" cap="none" strike="noStrike">
              <a:solidFill>
                <a:srgbClr val="000000"/>
              </a:solidFill>
              <a:latin typeface="Calibri"/>
              <a:ea typeface="Calibri"/>
              <a:cs typeface="Calibri"/>
              <a:sym typeface="Calibri"/>
            </a:endParaRPr>
          </a:p>
        </p:txBody>
      </p:sp>
      <p:sp>
        <p:nvSpPr>
          <p:cNvPr id="376" name="Google Shape;376;g316b0105bef_0_35"/>
          <p:cNvSpPr txBox="1"/>
          <p:nvPr/>
        </p:nvSpPr>
        <p:spPr>
          <a:xfrm>
            <a:off x="2347700" y="5122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 0</a:t>
            </a:r>
            <a:endParaRPr b="1" i="0" sz="2600" u="none" cap="none" strike="noStrike">
              <a:solidFill>
                <a:srgbClr val="000000"/>
              </a:solidFill>
              <a:latin typeface="Calibri"/>
              <a:ea typeface="Calibri"/>
              <a:cs typeface="Calibri"/>
              <a:sym typeface="Calibri"/>
            </a:endParaRPr>
          </a:p>
        </p:txBody>
      </p:sp>
      <p:sp>
        <p:nvSpPr>
          <p:cNvPr id="377" name="Google Shape;377;g316b0105bef_0_35"/>
          <p:cNvSpPr txBox="1"/>
          <p:nvPr/>
        </p:nvSpPr>
        <p:spPr>
          <a:xfrm>
            <a:off x="518900" y="6037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a:t>
            </a:r>
            <a:endParaRPr b="1" i="0" sz="2600" u="none" cap="none" strike="noStrike">
              <a:solidFill>
                <a:srgbClr val="000000"/>
              </a:solidFill>
              <a:latin typeface="Calibri"/>
              <a:ea typeface="Calibri"/>
              <a:cs typeface="Calibri"/>
              <a:sym typeface="Calibri"/>
            </a:endParaRPr>
          </a:p>
        </p:txBody>
      </p:sp>
      <p:sp>
        <p:nvSpPr>
          <p:cNvPr id="378" name="Google Shape;378;g316b0105bef_0_35"/>
          <p:cNvSpPr txBox="1"/>
          <p:nvPr/>
        </p:nvSpPr>
        <p:spPr>
          <a:xfrm>
            <a:off x="2347700" y="6037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a:t>
            </a:r>
            <a:endParaRPr b="1" i="0" sz="2600" u="none" cap="none" strike="noStrike">
              <a:solidFill>
                <a:srgbClr val="000000"/>
              </a:solidFill>
              <a:latin typeface="Calibri"/>
              <a:ea typeface="Calibri"/>
              <a:cs typeface="Calibri"/>
              <a:sym typeface="Calibri"/>
            </a:endParaRPr>
          </a:p>
        </p:txBody>
      </p:sp>
      <p:pic>
        <p:nvPicPr>
          <p:cNvPr id="379" name="Google Shape;379;g316b0105bef_0_35"/>
          <p:cNvPicPr preferRelativeResize="0"/>
          <p:nvPr/>
        </p:nvPicPr>
        <p:blipFill rotWithShape="1">
          <a:blip r:embed="rId8">
            <a:alphaModFix/>
          </a:blip>
          <a:srcRect b="0" l="0" r="0" t="0"/>
          <a:stretch/>
        </p:blipFill>
        <p:spPr>
          <a:xfrm>
            <a:off x="6965300" y="-6050"/>
            <a:ext cx="5226700" cy="5561425"/>
          </a:xfrm>
          <a:prstGeom prst="rect">
            <a:avLst/>
          </a:prstGeom>
          <a:noFill/>
          <a:ln>
            <a:noFill/>
          </a:ln>
        </p:spPr>
      </p:pic>
      <p:pic>
        <p:nvPicPr>
          <p:cNvPr id="380" name="Google Shape;380;g316b0105bef_0_35"/>
          <p:cNvPicPr preferRelativeResize="0"/>
          <p:nvPr/>
        </p:nvPicPr>
        <p:blipFill rotWithShape="1">
          <a:blip r:embed="rId9">
            <a:alphaModFix/>
          </a:blip>
          <a:srcRect b="0" l="0" r="0" t="0"/>
          <a:stretch/>
        </p:blipFill>
        <p:spPr>
          <a:xfrm>
            <a:off x="3940100" y="5616725"/>
            <a:ext cx="6038850" cy="800100"/>
          </a:xfrm>
          <a:prstGeom prst="rect">
            <a:avLst/>
          </a:prstGeom>
          <a:noFill/>
          <a:ln>
            <a:noFill/>
          </a:ln>
        </p:spPr>
      </p:pic>
      <p:sp>
        <p:nvSpPr>
          <p:cNvPr id="381" name="Google Shape;381;g316b0105bef_0_35"/>
          <p:cNvSpPr txBox="1"/>
          <p:nvPr/>
        </p:nvSpPr>
        <p:spPr>
          <a:xfrm>
            <a:off x="3536150" y="3140800"/>
            <a:ext cx="34293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C343D"/>
                </a:solidFill>
                <a:latin typeface="Arial"/>
                <a:ea typeface="Arial"/>
                <a:cs typeface="Arial"/>
                <a:sym typeface="Arial"/>
              </a:rPr>
              <a:t>S</a:t>
            </a:r>
            <a:r>
              <a:rPr b="1" baseline="-25000" i="0" lang="en-US" sz="1700" u="none" cap="none" strike="noStrike">
                <a:solidFill>
                  <a:srgbClr val="0C343D"/>
                </a:solidFill>
                <a:latin typeface="Arial"/>
                <a:ea typeface="Arial"/>
                <a:cs typeface="Arial"/>
                <a:sym typeface="Arial"/>
              </a:rPr>
              <a:t>t</a:t>
            </a:r>
            <a:r>
              <a:rPr b="1" i="0" lang="en-US" sz="1700" u="none" cap="none" strike="noStrike">
                <a:solidFill>
                  <a:srgbClr val="0C343D"/>
                </a:solidFill>
                <a:latin typeface="Arial"/>
                <a:ea typeface="Arial"/>
                <a:cs typeface="Arial"/>
                <a:sym typeface="Arial"/>
              </a:rPr>
              <a:t>   -  state before greedy move</a:t>
            </a:r>
            <a:endParaRPr b="1" i="0" sz="1700" u="none" cap="none" strike="noStrike">
              <a:solidFill>
                <a:srgbClr val="0C343D"/>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C343D"/>
                </a:solidFill>
                <a:latin typeface="Arial"/>
                <a:ea typeface="Arial"/>
                <a:cs typeface="Arial"/>
                <a:sym typeface="Arial"/>
              </a:rPr>
              <a:t>S</a:t>
            </a:r>
            <a:r>
              <a:rPr b="1" baseline="-25000" i="0" lang="en-US" sz="1700" u="none" cap="none" strike="noStrike">
                <a:solidFill>
                  <a:srgbClr val="0C343D"/>
                </a:solidFill>
                <a:latin typeface="Arial"/>
                <a:ea typeface="Arial"/>
                <a:cs typeface="Arial"/>
                <a:sym typeface="Arial"/>
              </a:rPr>
              <a:t>t+1 </a:t>
            </a:r>
            <a:r>
              <a:rPr b="1" i="0" lang="en-US" sz="1700" u="none" cap="none" strike="noStrike">
                <a:solidFill>
                  <a:srgbClr val="0C343D"/>
                </a:solidFill>
                <a:latin typeface="Arial"/>
                <a:ea typeface="Arial"/>
                <a:cs typeface="Arial"/>
                <a:sym typeface="Arial"/>
              </a:rPr>
              <a:t>-  state after greedy move</a:t>
            </a:r>
            <a:endParaRPr b="1" i="0" sz="1700" u="none" cap="none" strike="noStrike">
              <a:solidFill>
                <a:srgbClr val="0C343D"/>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16b0105bef_0_64"/>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87" name="Google Shape;387;g316b0105bef_0_6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88" name="Google Shape;388;g316b0105bef_0_64"/>
          <p:cNvPicPr preferRelativeResize="0"/>
          <p:nvPr/>
        </p:nvPicPr>
        <p:blipFill rotWithShape="1">
          <a:blip r:embed="rId3">
            <a:alphaModFix/>
          </a:blip>
          <a:srcRect b="0" l="0" r="0" t="0"/>
          <a:stretch/>
        </p:blipFill>
        <p:spPr>
          <a:xfrm>
            <a:off x="6965300" y="-6050"/>
            <a:ext cx="5226700" cy="5561425"/>
          </a:xfrm>
          <a:prstGeom prst="rect">
            <a:avLst/>
          </a:prstGeom>
          <a:noFill/>
          <a:ln>
            <a:noFill/>
          </a:ln>
        </p:spPr>
      </p:pic>
      <p:pic>
        <p:nvPicPr>
          <p:cNvPr id="389" name="Google Shape;389;g316b0105bef_0_64"/>
          <p:cNvPicPr preferRelativeResize="0"/>
          <p:nvPr/>
        </p:nvPicPr>
        <p:blipFill rotWithShape="1">
          <a:blip r:embed="rId4">
            <a:alphaModFix/>
          </a:blip>
          <a:srcRect b="0" l="0" r="0" t="0"/>
          <a:stretch/>
        </p:blipFill>
        <p:spPr>
          <a:xfrm>
            <a:off x="3940100" y="5616725"/>
            <a:ext cx="6038850" cy="800100"/>
          </a:xfrm>
          <a:prstGeom prst="rect">
            <a:avLst/>
          </a:prstGeom>
          <a:noFill/>
          <a:ln>
            <a:noFill/>
          </a:ln>
        </p:spPr>
      </p:pic>
      <p:sp>
        <p:nvSpPr>
          <p:cNvPr id="390" name="Google Shape;390;g316b0105bef_0_64"/>
          <p:cNvSpPr txBox="1"/>
          <p:nvPr/>
        </p:nvSpPr>
        <p:spPr>
          <a:xfrm>
            <a:off x="2639950" y="5209300"/>
            <a:ext cx="39552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rgbClr val="0C343D"/>
                </a:solidFill>
                <a:latin typeface="Arial"/>
                <a:ea typeface="Arial"/>
                <a:cs typeface="Arial"/>
                <a:sym typeface="Arial"/>
              </a:rPr>
              <a:t>Temporal Difference Learning Rule</a:t>
            </a:r>
            <a:endParaRPr b="1" i="0" sz="1700" u="sng" cap="none" strike="noStrike">
              <a:solidFill>
                <a:srgbClr val="0C343D"/>
              </a:solidFill>
              <a:latin typeface="Arial"/>
              <a:ea typeface="Arial"/>
              <a:cs typeface="Arial"/>
              <a:sym typeface="Arial"/>
            </a:endParaRPr>
          </a:p>
        </p:txBody>
      </p:sp>
      <p:sp>
        <p:nvSpPr>
          <p:cNvPr id="391" name="Google Shape;391;g316b0105bef_0_64"/>
          <p:cNvSpPr txBox="1"/>
          <p:nvPr/>
        </p:nvSpPr>
        <p:spPr>
          <a:xfrm>
            <a:off x="6361175" y="6305950"/>
            <a:ext cx="21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55CC"/>
                </a:solidFill>
                <a:latin typeface="Calibri"/>
                <a:ea typeface="Calibri"/>
                <a:cs typeface="Calibri"/>
                <a:sym typeface="Calibri"/>
              </a:rPr>
              <a:t>𝜶- Step Size Parameter</a:t>
            </a:r>
            <a:endParaRPr b="1" i="0" sz="1600" u="none" cap="none" strike="noStrike">
              <a:solidFill>
                <a:srgbClr val="1155CC"/>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16b0105bef_0_73"/>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97" name="Google Shape;397;g316b0105bef_0_7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98" name="Google Shape;398;g316b0105bef_0_73"/>
          <p:cNvPicPr preferRelativeResize="0"/>
          <p:nvPr/>
        </p:nvPicPr>
        <p:blipFill rotWithShape="1">
          <a:blip r:embed="rId3">
            <a:alphaModFix/>
          </a:blip>
          <a:srcRect b="0" l="0" r="0" t="0"/>
          <a:stretch/>
        </p:blipFill>
        <p:spPr>
          <a:xfrm>
            <a:off x="6965300" y="-6050"/>
            <a:ext cx="5226700" cy="5561425"/>
          </a:xfrm>
          <a:prstGeom prst="rect">
            <a:avLst/>
          </a:prstGeom>
          <a:noFill/>
          <a:ln>
            <a:noFill/>
          </a:ln>
        </p:spPr>
      </p:pic>
      <p:pic>
        <p:nvPicPr>
          <p:cNvPr id="399" name="Google Shape;399;g316b0105bef_0_73"/>
          <p:cNvPicPr preferRelativeResize="0"/>
          <p:nvPr/>
        </p:nvPicPr>
        <p:blipFill rotWithShape="1">
          <a:blip r:embed="rId4">
            <a:alphaModFix/>
          </a:blip>
          <a:srcRect b="0" l="0" r="0" t="0"/>
          <a:stretch/>
        </p:blipFill>
        <p:spPr>
          <a:xfrm>
            <a:off x="3940100" y="5616725"/>
            <a:ext cx="6038850" cy="800100"/>
          </a:xfrm>
          <a:prstGeom prst="rect">
            <a:avLst/>
          </a:prstGeom>
          <a:noFill/>
          <a:ln>
            <a:noFill/>
          </a:ln>
        </p:spPr>
      </p:pic>
      <p:sp>
        <p:nvSpPr>
          <p:cNvPr id="400" name="Google Shape;400;g316b0105bef_0_73"/>
          <p:cNvSpPr txBox="1"/>
          <p:nvPr/>
        </p:nvSpPr>
        <p:spPr>
          <a:xfrm>
            <a:off x="2639950" y="5209300"/>
            <a:ext cx="39552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rgbClr val="0C343D"/>
                </a:solidFill>
                <a:latin typeface="Arial"/>
                <a:ea typeface="Arial"/>
                <a:cs typeface="Arial"/>
                <a:sym typeface="Arial"/>
              </a:rPr>
              <a:t>Temporal Difference Learning Rule</a:t>
            </a:r>
            <a:endParaRPr b="1" i="0" sz="1700" u="sng" cap="none" strike="noStrike">
              <a:solidFill>
                <a:srgbClr val="0C343D"/>
              </a:solidFill>
              <a:latin typeface="Arial"/>
              <a:ea typeface="Arial"/>
              <a:cs typeface="Arial"/>
              <a:sym typeface="Arial"/>
            </a:endParaRPr>
          </a:p>
        </p:txBody>
      </p:sp>
      <p:sp>
        <p:nvSpPr>
          <p:cNvPr id="401" name="Google Shape;401;g316b0105bef_0_73"/>
          <p:cNvSpPr txBox="1"/>
          <p:nvPr/>
        </p:nvSpPr>
        <p:spPr>
          <a:xfrm>
            <a:off x="6361175" y="6305950"/>
            <a:ext cx="21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55CC"/>
                </a:solidFill>
                <a:latin typeface="Calibri"/>
                <a:ea typeface="Calibri"/>
                <a:cs typeface="Calibri"/>
                <a:sym typeface="Calibri"/>
              </a:rPr>
              <a:t>𝜶- Step Size Parameter</a:t>
            </a:r>
            <a:endParaRPr b="1" i="0" sz="1600" u="none" cap="none" strike="noStrike">
              <a:solidFill>
                <a:srgbClr val="1155CC"/>
              </a:solidFill>
              <a:latin typeface="Calibri"/>
              <a:ea typeface="Calibri"/>
              <a:cs typeface="Calibri"/>
              <a:sym typeface="Calibri"/>
            </a:endParaRPr>
          </a:p>
        </p:txBody>
      </p:sp>
      <p:sp>
        <p:nvSpPr>
          <p:cNvPr id="402" name="Google Shape;402;g316b0105bef_0_73"/>
          <p:cNvSpPr txBox="1"/>
          <p:nvPr/>
        </p:nvSpPr>
        <p:spPr>
          <a:xfrm>
            <a:off x="428625" y="1928825"/>
            <a:ext cx="56112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Questions: </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AutoNum type="arabicParenBoth"/>
            </a:pPr>
            <a:r>
              <a:rPr b="0" i="0" lang="en-US" sz="1800" u="none" cap="none" strike="noStrike">
                <a:solidFill>
                  <a:srgbClr val="000000"/>
                </a:solidFill>
                <a:latin typeface="Calibri"/>
                <a:ea typeface="Calibri"/>
                <a:cs typeface="Calibri"/>
                <a:sym typeface="Calibri"/>
              </a:rPr>
              <a:t>What happens if 𝜶 is gradually made to 0 over many games with the opponent?</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AutoNum type="arabicParenBoth"/>
            </a:pPr>
            <a:r>
              <a:rPr b="0" i="0" lang="en-US" sz="1800" u="none" cap="none" strike="noStrike">
                <a:solidFill>
                  <a:srgbClr val="000000"/>
                </a:solidFill>
                <a:latin typeface="Calibri"/>
                <a:ea typeface="Calibri"/>
                <a:cs typeface="Calibri"/>
                <a:sym typeface="Calibri"/>
              </a:rPr>
              <a:t>What happens if </a:t>
            </a:r>
            <a:r>
              <a:rPr b="0" i="0" lang="en-US" sz="1800" u="none" cap="none" strike="noStrike">
                <a:solidFill>
                  <a:schemeClr val="dk1"/>
                </a:solidFill>
                <a:latin typeface="Calibri"/>
                <a:ea typeface="Calibri"/>
                <a:cs typeface="Calibri"/>
                <a:sym typeface="Calibri"/>
              </a:rPr>
              <a:t>𝜶 is gradually reduced over many games, but never made 0?</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AutoNum type="arabicParenBoth"/>
            </a:pPr>
            <a:r>
              <a:rPr b="0" i="0" lang="en-US" sz="1800" u="none" cap="none" strike="noStrike">
                <a:solidFill>
                  <a:schemeClr val="dk1"/>
                </a:solidFill>
                <a:latin typeface="Calibri"/>
                <a:ea typeface="Calibri"/>
                <a:cs typeface="Calibri"/>
                <a:sym typeface="Calibri"/>
              </a:rPr>
              <a:t>What happens if 𝜶 is kept constant throughout its life time?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316b0105bef_0_83"/>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408" name="Google Shape;408;g316b0105bef_0_8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409" name="Google Shape;409;g316b0105bef_0_83"/>
          <p:cNvPicPr preferRelativeResize="0"/>
          <p:nvPr/>
        </p:nvPicPr>
        <p:blipFill rotWithShape="1">
          <a:blip r:embed="rId3">
            <a:alphaModFix/>
          </a:blip>
          <a:srcRect b="0" l="0" r="0" t="0"/>
          <a:stretch/>
        </p:blipFill>
        <p:spPr>
          <a:xfrm>
            <a:off x="6965300" y="-6050"/>
            <a:ext cx="5226700" cy="5561425"/>
          </a:xfrm>
          <a:prstGeom prst="rect">
            <a:avLst/>
          </a:prstGeom>
          <a:noFill/>
          <a:ln>
            <a:noFill/>
          </a:ln>
        </p:spPr>
      </p:pic>
      <p:pic>
        <p:nvPicPr>
          <p:cNvPr id="410" name="Google Shape;410;g316b0105bef_0_83"/>
          <p:cNvPicPr preferRelativeResize="0"/>
          <p:nvPr/>
        </p:nvPicPr>
        <p:blipFill rotWithShape="1">
          <a:blip r:embed="rId4">
            <a:alphaModFix/>
          </a:blip>
          <a:srcRect b="0" l="0" r="0" t="0"/>
          <a:stretch/>
        </p:blipFill>
        <p:spPr>
          <a:xfrm>
            <a:off x="3940100" y="5616725"/>
            <a:ext cx="6038850" cy="800100"/>
          </a:xfrm>
          <a:prstGeom prst="rect">
            <a:avLst/>
          </a:prstGeom>
          <a:noFill/>
          <a:ln>
            <a:noFill/>
          </a:ln>
        </p:spPr>
      </p:pic>
      <p:sp>
        <p:nvSpPr>
          <p:cNvPr id="411" name="Google Shape;411;g316b0105bef_0_83"/>
          <p:cNvSpPr txBox="1"/>
          <p:nvPr/>
        </p:nvSpPr>
        <p:spPr>
          <a:xfrm>
            <a:off x="2639950" y="5209300"/>
            <a:ext cx="39552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rgbClr val="0C343D"/>
                </a:solidFill>
                <a:latin typeface="Arial"/>
                <a:ea typeface="Arial"/>
                <a:cs typeface="Arial"/>
                <a:sym typeface="Arial"/>
              </a:rPr>
              <a:t>Temporal Difference Learning Rule</a:t>
            </a:r>
            <a:endParaRPr b="1" i="0" sz="1700" u="sng" cap="none" strike="noStrike">
              <a:solidFill>
                <a:srgbClr val="0C343D"/>
              </a:solidFill>
              <a:latin typeface="Arial"/>
              <a:ea typeface="Arial"/>
              <a:cs typeface="Arial"/>
              <a:sym typeface="Arial"/>
            </a:endParaRPr>
          </a:p>
        </p:txBody>
      </p:sp>
      <p:sp>
        <p:nvSpPr>
          <p:cNvPr id="412" name="Google Shape;412;g316b0105bef_0_83"/>
          <p:cNvSpPr txBox="1"/>
          <p:nvPr/>
        </p:nvSpPr>
        <p:spPr>
          <a:xfrm>
            <a:off x="6361175" y="6305950"/>
            <a:ext cx="21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55CC"/>
                </a:solidFill>
                <a:latin typeface="Calibri"/>
                <a:ea typeface="Calibri"/>
                <a:cs typeface="Calibri"/>
                <a:sym typeface="Calibri"/>
              </a:rPr>
              <a:t>𝜶- Step Size Parameter</a:t>
            </a:r>
            <a:endParaRPr b="1" i="0" sz="1600" u="none" cap="none" strike="noStrike">
              <a:solidFill>
                <a:srgbClr val="1155CC"/>
              </a:solidFill>
              <a:latin typeface="Calibri"/>
              <a:ea typeface="Calibri"/>
              <a:cs typeface="Calibri"/>
              <a:sym typeface="Calibri"/>
            </a:endParaRPr>
          </a:p>
        </p:txBody>
      </p:sp>
      <p:sp>
        <p:nvSpPr>
          <p:cNvPr id="413" name="Google Shape;413;g316b0105bef_0_83"/>
          <p:cNvSpPr txBox="1"/>
          <p:nvPr/>
        </p:nvSpPr>
        <p:spPr>
          <a:xfrm>
            <a:off x="428625" y="1928825"/>
            <a:ext cx="56112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34F5C"/>
                </a:solidFill>
                <a:latin typeface="Calibri"/>
                <a:ea typeface="Calibri"/>
                <a:cs typeface="Calibri"/>
                <a:sym typeface="Calibri"/>
              </a:rPr>
              <a:t>Key Takeaways:</a:t>
            </a:r>
            <a:r>
              <a:rPr b="0" i="0" lang="en-U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AutoNum type="arabicParenBoth"/>
            </a:pPr>
            <a:r>
              <a:rPr b="0" i="0" lang="en-US" sz="2000" u="none" cap="none" strike="noStrike">
                <a:solidFill>
                  <a:srgbClr val="000000"/>
                </a:solidFill>
                <a:latin typeface="Calibri"/>
                <a:ea typeface="Calibri"/>
                <a:cs typeface="Calibri"/>
                <a:sym typeface="Calibri"/>
              </a:rPr>
              <a:t>Learning while interacting with the environment (opponent).</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AutoNum type="arabicParenBoth"/>
            </a:pPr>
            <a:r>
              <a:rPr b="0" i="0" lang="en-US" sz="2000" u="none" cap="none" strike="noStrike">
                <a:solidFill>
                  <a:srgbClr val="000000"/>
                </a:solidFill>
                <a:latin typeface="Calibri"/>
                <a:ea typeface="Calibri"/>
                <a:cs typeface="Calibri"/>
                <a:sym typeface="Calibri"/>
              </a:rPr>
              <a:t>We have a clear goal </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AutoNum type="arabicParenBoth"/>
            </a:pPr>
            <a:r>
              <a:rPr b="0" i="0" lang="en-US" sz="2000" u="none" cap="none" strike="noStrike">
                <a:solidFill>
                  <a:srgbClr val="000000"/>
                </a:solidFill>
                <a:latin typeface="Calibri"/>
                <a:ea typeface="Calibri"/>
                <a:cs typeface="Calibri"/>
                <a:sym typeface="Calibri"/>
              </a:rPr>
              <a:t>Our policy is to make moves that maximizes our chances of reaching goal </a:t>
            </a:r>
            <a:endParaRPr b="0" i="0" sz="2000" u="none" cap="none" strike="noStrike">
              <a:solidFill>
                <a:srgbClr val="000000"/>
              </a:solidFill>
              <a:latin typeface="Calibri"/>
              <a:ea typeface="Calibri"/>
              <a:cs typeface="Calibri"/>
              <a:sym typeface="Calibri"/>
            </a:endParaRPr>
          </a:p>
          <a:p>
            <a:pPr indent="-355600" lvl="1" marL="914400" marR="0" rtl="0" algn="l">
              <a:lnSpc>
                <a:spcPct val="100000"/>
              </a:lnSpc>
              <a:spcBef>
                <a:spcPts val="0"/>
              </a:spcBef>
              <a:spcAft>
                <a:spcPts val="0"/>
              </a:spcAft>
              <a:buClr>
                <a:srgbClr val="000000"/>
              </a:buClr>
              <a:buSzPts val="2000"/>
              <a:buFont typeface="Calibri"/>
              <a:buChar char="○"/>
            </a:pPr>
            <a:r>
              <a:rPr b="0" i="0" lang="en-US" sz="2000" u="none" cap="none" strike="noStrike">
                <a:solidFill>
                  <a:srgbClr val="000000"/>
                </a:solidFill>
                <a:latin typeface="Calibri"/>
                <a:ea typeface="Calibri"/>
                <a:cs typeface="Calibri"/>
                <a:sym typeface="Calibri"/>
              </a:rPr>
              <a:t>Use the values of states most of the time (exploration) and explore rest of the time.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316b0105bef_0_93"/>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419" name="Google Shape;419;g316b0105bef_0_9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420" name="Google Shape;420;g316b0105bef_0_93"/>
          <p:cNvPicPr preferRelativeResize="0"/>
          <p:nvPr/>
        </p:nvPicPr>
        <p:blipFill rotWithShape="1">
          <a:blip r:embed="rId3">
            <a:alphaModFix/>
          </a:blip>
          <a:srcRect b="0" l="0" r="0" t="0"/>
          <a:stretch/>
        </p:blipFill>
        <p:spPr>
          <a:xfrm>
            <a:off x="6965300" y="-6050"/>
            <a:ext cx="5226700" cy="5561425"/>
          </a:xfrm>
          <a:prstGeom prst="rect">
            <a:avLst/>
          </a:prstGeom>
          <a:noFill/>
          <a:ln>
            <a:noFill/>
          </a:ln>
        </p:spPr>
      </p:pic>
      <p:pic>
        <p:nvPicPr>
          <p:cNvPr id="421" name="Google Shape;421;g316b0105bef_0_93"/>
          <p:cNvPicPr preferRelativeResize="0"/>
          <p:nvPr/>
        </p:nvPicPr>
        <p:blipFill rotWithShape="1">
          <a:blip r:embed="rId4">
            <a:alphaModFix/>
          </a:blip>
          <a:srcRect b="0" l="0" r="0" t="0"/>
          <a:stretch/>
        </p:blipFill>
        <p:spPr>
          <a:xfrm>
            <a:off x="3940100" y="5616725"/>
            <a:ext cx="6038850" cy="800100"/>
          </a:xfrm>
          <a:prstGeom prst="rect">
            <a:avLst/>
          </a:prstGeom>
          <a:noFill/>
          <a:ln>
            <a:noFill/>
          </a:ln>
        </p:spPr>
      </p:pic>
      <p:sp>
        <p:nvSpPr>
          <p:cNvPr id="422" name="Google Shape;422;g316b0105bef_0_93"/>
          <p:cNvSpPr txBox="1"/>
          <p:nvPr/>
        </p:nvSpPr>
        <p:spPr>
          <a:xfrm>
            <a:off x="2639950" y="5209300"/>
            <a:ext cx="39552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rgbClr val="0C343D"/>
                </a:solidFill>
                <a:latin typeface="Arial"/>
                <a:ea typeface="Arial"/>
                <a:cs typeface="Arial"/>
                <a:sym typeface="Arial"/>
              </a:rPr>
              <a:t>Temporal Difference Learning Rule</a:t>
            </a:r>
            <a:endParaRPr b="1" i="0" sz="1700" u="sng" cap="none" strike="noStrike">
              <a:solidFill>
                <a:srgbClr val="0C343D"/>
              </a:solidFill>
              <a:latin typeface="Arial"/>
              <a:ea typeface="Arial"/>
              <a:cs typeface="Arial"/>
              <a:sym typeface="Arial"/>
            </a:endParaRPr>
          </a:p>
        </p:txBody>
      </p:sp>
      <p:sp>
        <p:nvSpPr>
          <p:cNvPr id="423" name="Google Shape;423;g316b0105bef_0_93"/>
          <p:cNvSpPr txBox="1"/>
          <p:nvPr/>
        </p:nvSpPr>
        <p:spPr>
          <a:xfrm>
            <a:off x="6361175" y="6305950"/>
            <a:ext cx="21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55CC"/>
                </a:solidFill>
                <a:latin typeface="Calibri"/>
                <a:ea typeface="Calibri"/>
                <a:cs typeface="Calibri"/>
                <a:sym typeface="Calibri"/>
              </a:rPr>
              <a:t>𝜶- Step Size Parameter</a:t>
            </a:r>
            <a:endParaRPr b="1" i="0" sz="1600" u="none" cap="none" strike="noStrike">
              <a:solidFill>
                <a:srgbClr val="1155CC"/>
              </a:solidFill>
              <a:latin typeface="Calibri"/>
              <a:ea typeface="Calibri"/>
              <a:cs typeface="Calibri"/>
              <a:sym typeface="Calibri"/>
            </a:endParaRPr>
          </a:p>
        </p:txBody>
      </p:sp>
      <p:sp>
        <p:nvSpPr>
          <p:cNvPr id="424" name="Google Shape;424;g316b0105bef_0_93"/>
          <p:cNvSpPr txBox="1"/>
          <p:nvPr/>
        </p:nvSpPr>
        <p:spPr>
          <a:xfrm>
            <a:off x="428625" y="1928825"/>
            <a:ext cx="5611200" cy="172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34F5C"/>
                </a:solidFill>
                <a:latin typeface="Calibri"/>
                <a:ea typeface="Calibri"/>
                <a:cs typeface="Calibri"/>
                <a:sym typeface="Calibri"/>
              </a:rPr>
              <a:t>Reading Assigned:</a:t>
            </a:r>
            <a:r>
              <a:rPr b="0" i="0" lang="en-U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Identify how this reinforcement learning solution is different from solutions using minimax algorithm and genetic algorithms.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Post your answers in the discussion forum;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16799cd9c8_0_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431" name="Google Shape;431;g316799cd9c8_0_21"/>
          <p:cNvSpPr txBox="1"/>
          <p:nvPr>
            <p:ph idx="1" type="body"/>
          </p:nvPr>
        </p:nvSpPr>
        <p:spPr>
          <a:xfrm>
            <a:off x="838200" y="1061002"/>
            <a:ext cx="10515600" cy="5013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2800"/>
              <a:buNone/>
            </a:pPr>
            <a:r>
              <a:rPr b="1" lang="en-US"/>
              <a:t>References for today’s session </a:t>
            </a:r>
            <a:endParaRPr b="1"/>
          </a:p>
          <a:p>
            <a:pPr indent="-381000" lvl="0" marL="457200" rtl="0" algn="l">
              <a:lnSpc>
                <a:spcPct val="100000"/>
              </a:lnSpc>
              <a:spcBef>
                <a:spcPts val="1000"/>
              </a:spcBef>
              <a:spcAft>
                <a:spcPts val="0"/>
              </a:spcAft>
              <a:buSzPts val="2400"/>
              <a:buAutoNum type="arabicPeriod"/>
            </a:pPr>
            <a:r>
              <a:rPr lang="en-US" sz="2400"/>
              <a:t>Chapter 1 - Reinforcement Learning: An Introduction, Richard S. Sutton and Andrew G. Barto, Second Ed. , MIT Press</a:t>
            </a:r>
            <a:endParaRPr sz="2400"/>
          </a:p>
          <a:p>
            <a:pPr indent="0" lvl="0" marL="457200" rtl="0" algn="l">
              <a:lnSpc>
                <a:spcPct val="100000"/>
              </a:lnSpc>
              <a:spcBef>
                <a:spcPts val="1000"/>
              </a:spcBef>
              <a:spcAft>
                <a:spcPts val="0"/>
              </a:spcAft>
              <a:buSzPts val="2800"/>
              <a:buNone/>
            </a:pPr>
            <a:r>
              <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24320ba2c05_0_0"/>
          <p:cNvSpPr txBox="1"/>
          <p:nvPr>
            <p:ph type="title"/>
          </p:nvPr>
        </p:nvSpPr>
        <p:spPr>
          <a:xfrm>
            <a:off x="4657724" y="2809875"/>
            <a:ext cx="6696000" cy="1909800"/>
          </a:xfrm>
          <a:prstGeom prst="rect">
            <a:avLst/>
          </a:prstGeom>
          <a:noFill/>
          <a:ln>
            <a:noFill/>
          </a:ln>
        </p:spPr>
        <p:txBody>
          <a:bodyPr anchorCtr="0" anchor="b" bIns="45700" lIns="91425" spcFirstLastPara="1" rIns="91425" wrap="square" tIns="45700">
            <a:normAutofit fontScale="90000"/>
          </a:bodyPr>
          <a:lstStyle/>
          <a:p>
            <a:pPr indent="0" lvl="0" marL="0" rtl="0" algn="r">
              <a:lnSpc>
                <a:spcPct val="90000"/>
              </a:lnSpc>
              <a:spcBef>
                <a:spcPts val="0"/>
              </a:spcBef>
              <a:spcAft>
                <a:spcPts val="0"/>
              </a:spcAft>
              <a:buClr>
                <a:schemeClr val="dk1"/>
              </a:buClr>
              <a:buSzPct val="100000"/>
              <a:buFont typeface="Calibri"/>
              <a:buNone/>
            </a:pPr>
            <a:r>
              <a:t/>
            </a:r>
            <a:endParaRPr sz="3600"/>
          </a:p>
          <a:p>
            <a:pPr indent="0" lvl="0" marL="0" rtl="0" algn="r">
              <a:lnSpc>
                <a:spcPct val="90000"/>
              </a:lnSpc>
              <a:spcBef>
                <a:spcPts val="0"/>
              </a:spcBef>
              <a:spcAft>
                <a:spcPts val="0"/>
              </a:spcAft>
              <a:buClr>
                <a:schemeClr val="dk1"/>
              </a:buClr>
              <a:buSzPct val="100000"/>
              <a:buFont typeface="Calibri"/>
              <a:buNone/>
            </a:pPr>
            <a:r>
              <a:rPr lang="en-US" sz="3600" u="sng"/>
              <a:t>End of Session #1</a:t>
            </a:r>
            <a:endParaRPr sz="3600" u="sng"/>
          </a:p>
          <a:p>
            <a:pPr indent="0" lvl="0" marL="0" rtl="0" algn="r">
              <a:lnSpc>
                <a:spcPct val="90000"/>
              </a:lnSpc>
              <a:spcBef>
                <a:spcPts val="0"/>
              </a:spcBef>
              <a:spcAft>
                <a:spcPts val="0"/>
              </a:spcAft>
              <a:buClr>
                <a:schemeClr val="dk1"/>
              </a:buClr>
              <a:buSzPct val="100000"/>
              <a:buFont typeface="Calibri"/>
              <a:buNone/>
            </a:pPr>
            <a:r>
              <a:t/>
            </a:r>
            <a:endParaRPr sz="3600" u="sng"/>
          </a:p>
          <a:p>
            <a:pPr indent="0" lvl="0" marL="0" rtl="0" algn="r">
              <a:lnSpc>
                <a:spcPct val="90000"/>
              </a:lnSpc>
              <a:spcBef>
                <a:spcPts val="0"/>
              </a:spcBef>
              <a:spcAft>
                <a:spcPts val="0"/>
              </a:spcAft>
              <a:buClr>
                <a:schemeClr val="dk1"/>
              </a:buClr>
              <a:buSzPct val="100000"/>
              <a:buFont typeface="Calibri"/>
              <a:buNone/>
            </a:pPr>
            <a:r>
              <a:rPr lang="en-US" sz="3600" u="sng"/>
              <a:t>Thank you</a:t>
            </a:r>
            <a:endParaRPr sz="3600" u="sng"/>
          </a:p>
        </p:txBody>
      </p:sp>
      <p:sp>
        <p:nvSpPr>
          <p:cNvPr id="437" name="Google Shape;437;g24320ba2c05_0_0"/>
          <p:cNvSpPr txBox="1"/>
          <p:nvPr>
            <p:ph idx="12" type="sldNum"/>
          </p:nvPr>
        </p:nvSpPr>
        <p:spPr>
          <a:xfrm>
            <a:off x="9658350" y="6356350"/>
            <a:ext cx="1695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7" ma:contentTypeDescription="Create a new document." ma:contentTypeScope="" ma:versionID="b30f2ecc5b695649357aa227f95e22cc">
  <xsd:schema xmlns:xsd="http://www.w3.org/2001/XMLSchema" xmlns:xs="http://www.w3.org/2001/XMLSchema" xmlns:p="http://schemas.microsoft.com/office/2006/metadata/properties" xmlns:ns2="0a2451e9-b2b7-43a3-aada-52e3e0c35c47" targetNamespace="http://schemas.microsoft.com/office/2006/metadata/properties" ma:root="true" ma:fieldsID="6ea2e6baa7cd6717bc3ee222916f1090"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18CDAD9-0AE3-487D-8EBD-C11897AE4832}"/>
</file>

<file path=customXml/itemProps2.xml><?xml version="1.0" encoding="utf-8"?>
<ds:datastoreItem xmlns:ds="http://schemas.openxmlformats.org/officeDocument/2006/customXml" ds:itemID="{2AF855F3-E759-47B5-9F7D-1DE9B21A527B}"/>
</file>

<file path=customXml/itemProps3.xml><?xml version="1.0" encoding="utf-8"?>
<ds:datastoreItem xmlns:ds="http://schemas.openxmlformats.org/officeDocument/2006/customXml" ds:itemID="{48AB7A72-3C7B-4638-9B1C-BD7B641999D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Vimal S P</dc:creator>
  <dcterms:created xsi:type="dcterms:W3CDTF">2023-01-18T09:26:06Z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